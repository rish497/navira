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d3d7ae03834cb9" /><Relationship Type="http://schemas.openxmlformats.org/officeDocument/2006/relationships/extended-properties" Target="/docProps/app.xml" Id="R4adc5487392145f9" /><Relationship Type="http://schemas.openxmlformats.org/officeDocument/2006/relationships/officeDocument" Target="/ppt/presentation.xml" Id="R8c6d3835e2b7417c" /></Relationships>
</file>

<file path=ppt/presentation.xml><?xml version="1.0" encoding="utf-8"?>
<p:presentation xmlns:p="http://schemas.openxmlformats.org/presentationml/2006/main">
  <p:sldMasterIdLst>
    <p:sldMasterId xmlns:r="http://schemas.openxmlformats.org/officeDocument/2006/relationships" id="2147483648" r:id="R53244b69844f4ef1"/>
  </p:sldMasterIdLst>
  <p:notesMasterIdLst>
    <p:notesMasterId xmlns:r="http://schemas.openxmlformats.org/officeDocument/2006/relationships" r:id="Re7b7866790f74e30"/>
  </p:notesMasterIdLst>
  <p:sldIdLst>
    <p:sldId xmlns:r="http://schemas.openxmlformats.org/officeDocument/2006/relationships" id="256" r:id="R83175fc15e4e4708"/>
    <p:sldId xmlns:r="http://schemas.openxmlformats.org/officeDocument/2006/relationships" id="257" r:id="R90a4b48b8cbc4219"/>
    <p:sldId xmlns:r="http://schemas.openxmlformats.org/officeDocument/2006/relationships" id="258" r:id="Rc8ac3d54309844c3"/>
    <p:sldId xmlns:r="http://schemas.openxmlformats.org/officeDocument/2006/relationships" id="259" r:id="Rc48fcc7768894e3b"/>
    <p:sldId xmlns:r="http://schemas.openxmlformats.org/officeDocument/2006/relationships" id="260" r:id="R7cea982f29f14fcf"/>
    <p:sldId xmlns:r="http://schemas.openxmlformats.org/officeDocument/2006/relationships" id="261" r:id="Rcafca4f4e7974a29"/>
    <p:sldId xmlns:r="http://schemas.openxmlformats.org/officeDocument/2006/relationships" id="262" r:id="Rd1d97206f9c748e9"/>
    <p:sldId xmlns:r="http://schemas.openxmlformats.org/officeDocument/2006/relationships" id="263" r:id="R124c73335d4c443c"/>
    <p:sldId xmlns:r="http://schemas.openxmlformats.org/officeDocument/2006/relationships" id="264" r:id="Rf4ad9b3fc9a24b92"/>
    <p:sldId xmlns:r="http://schemas.openxmlformats.org/officeDocument/2006/relationships" id="265" r:id="R26ef858c2f9b4d25"/>
    <p:sldId xmlns:r="http://schemas.openxmlformats.org/officeDocument/2006/relationships" id="266" r:id="Ra929c348e1c94b21"/>
    <p:sldId xmlns:r="http://schemas.openxmlformats.org/officeDocument/2006/relationships" id="267" r:id="Rb4ea559bbd0a4551"/>
    <p:sldId xmlns:r="http://schemas.openxmlformats.org/officeDocument/2006/relationships" id="268" r:id="Rb3a4122d9f814f8a"/>
    <p:sldId xmlns:r="http://schemas.openxmlformats.org/officeDocument/2006/relationships" id="269" r:id="R7d4af9258cc14904"/>
    <p:sldId xmlns:r="http://schemas.openxmlformats.org/officeDocument/2006/relationships" id="270" r:id="Ref375eb6a0f241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56510a4ce54d9f" /><Relationship Type="http://schemas.openxmlformats.org/officeDocument/2006/relationships/slideMaster" Target="/ppt/slideMasters/slideMaster1.xml" Id="R53244b69844f4ef1" /><Relationship Type="http://schemas.openxmlformats.org/officeDocument/2006/relationships/notesMaster" Target="/ppt/notesMasters/notesMaster1.xml" Id="Re7b7866790f74e30" /><Relationship Type="http://schemas.openxmlformats.org/officeDocument/2006/relationships/presProps" Target="/ppt/presProps.xml" Id="R2cfdf11640bd4152" /><Relationship Type="http://schemas.openxmlformats.org/officeDocument/2006/relationships/tableStyles" Target="/ppt/tableStyles.xml" Id="R7b8ec2419ee9474d" /><Relationship Type="http://schemas.openxmlformats.org/officeDocument/2006/relationships/slide" Target="/ppt/slides/slide1.xml" Id="R83175fc15e4e4708" /><Relationship Type="http://schemas.openxmlformats.org/officeDocument/2006/relationships/slide" Target="/ppt/slides/slide2.xml" Id="R90a4b48b8cbc4219" /><Relationship Type="http://schemas.openxmlformats.org/officeDocument/2006/relationships/slide" Target="/ppt/slides/slide3.xml" Id="Rc8ac3d54309844c3" /><Relationship Type="http://schemas.openxmlformats.org/officeDocument/2006/relationships/slide" Target="/ppt/slides/slide4.xml" Id="Rc48fcc7768894e3b" /><Relationship Type="http://schemas.openxmlformats.org/officeDocument/2006/relationships/slide" Target="/ppt/slides/slide5.xml" Id="R7cea982f29f14fcf" /><Relationship Type="http://schemas.openxmlformats.org/officeDocument/2006/relationships/slide" Target="/ppt/slides/slide6.xml" Id="Rcafca4f4e7974a29" /><Relationship Type="http://schemas.openxmlformats.org/officeDocument/2006/relationships/slide" Target="/ppt/slides/slide7.xml" Id="Rd1d97206f9c748e9" /><Relationship Type="http://schemas.openxmlformats.org/officeDocument/2006/relationships/slide" Target="/ppt/slides/slide8.xml" Id="R124c73335d4c443c" /><Relationship Type="http://schemas.openxmlformats.org/officeDocument/2006/relationships/slide" Target="/ppt/slides/slide9.xml" Id="Rf4ad9b3fc9a24b92" /><Relationship Type="http://schemas.openxmlformats.org/officeDocument/2006/relationships/slide" Target="/ppt/slides/slide10.xml" Id="R26ef858c2f9b4d25" /><Relationship Type="http://schemas.openxmlformats.org/officeDocument/2006/relationships/slide" Target="/ppt/slides/slide11.xml" Id="Ra929c348e1c94b21" /><Relationship Type="http://schemas.openxmlformats.org/officeDocument/2006/relationships/slide" Target="/ppt/slides/slide12.xml" Id="Rb4ea559bbd0a4551" /><Relationship Type="http://schemas.openxmlformats.org/officeDocument/2006/relationships/slide" Target="/ppt/slides/slide13.xml" Id="Rb3a4122d9f814f8a" /><Relationship Type="http://schemas.openxmlformats.org/officeDocument/2006/relationships/slide" Target="/ppt/slides/slide14.xml" Id="R7d4af9258cc14904" /><Relationship Type="http://schemas.openxmlformats.org/officeDocument/2006/relationships/slide" Target="/ppt/slides/slide15.xml" Id="Ref375eb6a0f241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9478b2f1f74a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83702a3a0c4e49" /><Relationship Type="http://schemas.openxmlformats.org/officeDocument/2006/relationships/notesMaster" Target="/ppt/notesMasters/notesMaster1.xml" Id="Rf48f336206f747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585a876d4e4167" /><Relationship Type="http://schemas.openxmlformats.org/officeDocument/2006/relationships/notesMaster" Target="/ppt/notesMasters/notesMaster1.xml" Id="R605f110cf2ee45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b03b8a0f584699" /><Relationship Type="http://schemas.openxmlformats.org/officeDocument/2006/relationships/notesMaster" Target="/ppt/notesMasters/notesMaster1.xml" Id="Rfae5df82dd724d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638fe189c3449a" /><Relationship Type="http://schemas.openxmlformats.org/officeDocument/2006/relationships/notesMaster" Target="/ppt/notesMasters/notesMaster1.xml" Id="Rd58fea12560a49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7fa3c2f7364282" /><Relationship Type="http://schemas.openxmlformats.org/officeDocument/2006/relationships/notesMaster" Target="/ppt/notesMasters/notesMaster1.xml" Id="Rc7261c0a1f794b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226bf2de6144e5" /><Relationship Type="http://schemas.openxmlformats.org/officeDocument/2006/relationships/notesMaster" Target="/ppt/notesMasters/notesMaster1.xml" Id="R13e9c8f800904a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dc797245924f8d" /><Relationship Type="http://schemas.openxmlformats.org/officeDocument/2006/relationships/notesMaster" Target="/ppt/notesMasters/notesMaster1.xml" Id="R1109c6cd8a7a45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9b62d693ee4d85" /><Relationship Type="http://schemas.openxmlformats.org/officeDocument/2006/relationships/notesMaster" Target="/ppt/notesMasters/notesMaster1.xml" Id="Re61d3ad8cf3d4d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a8ca5ad8d74627" /><Relationship Type="http://schemas.openxmlformats.org/officeDocument/2006/relationships/notesMaster" Target="/ppt/notesMasters/notesMaster1.xml" Id="R8d0d718d374446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af9b272f87414f" /><Relationship Type="http://schemas.openxmlformats.org/officeDocument/2006/relationships/notesMaster" Target="/ppt/notesMasters/notesMaster1.xml" Id="R420fee5881b347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d70badb9224588" /><Relationship Type="http://schemas.openxmlformats.org/officeDocument/2006/relationships/notesMaster" Target="/ppt/notesMasters/notesMaster1.xml" Id="R13a50c821d6b4b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045692f0a1470c" /><Relationship Type="http://schemas.openxmlformats.org/officeDocument/2006/relationships/notesMaster" Target="/ppt/notesMasters/notesMaster1.xml" Id="R3938e7d62eac4e2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2a347e7e8d8493e" /><Relationship Type="http://schemas.openxmlformats.org/officeDocument/2006/relationships/notesMaster" Target="/ppt/notesMasters/notesMaster1.xml" Id="Rfd35fedacc2349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d5b20ab5cf4e25" /><Relationship Type="http://schemas.openxmlformats.org/officeDocument/2006/relationships/notesMaster" Target="/ppt/notesMasters/notesMaster1.xml" Id="R78e7206058724a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a579c5193b84167" /><Relationship Type="http://schemas.openxmlformats.org/officeDocument/2006/relationships/notesMaster" Target="/ppt/notesMasters/notesMaster1.xml" Id="R5bfc734e79a541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is a disaster-response platform that connects real hazard intelligence to civilian protection, operator coordination, and infrastructure testing. I’m Rishabh Mittal, and this is the system I built for this 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problem is the handoff. Data may exist, but civilians, field teams, and command centers need different answers from the same verified geographic record. NAVIRA turns that shared record into a connected response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is organized around three pillars. Understand consolidates verified disaster intelligence. Protect turns that intelligence into civilian and operator action. Test extends the same disaster context into infrastructure simulation and design comparison.</a:t>
            </a:r>
          </a:p>
          <a:p xmlns:a="http://schemas.openxmlformats.org/drawingml/2006/main">
            <a:r>
              <a:t/>
            </a:r>
          </a:p>
          <a:p xmlns:a="http://schemas.openxmlformats.org/drawingml/2006/main">
            <a:r>
              <a:t>Sources:</a:t>
            </a:r>
          </a:p>
          <a:p xmlns:a="http://schemas.openxmlformats.org/drawingml/2006/main">
            <a:r>
              <a:t>- NASA EONET — https://eonet.gsfc.nasa.gov/</a:t>
            </a:r>
          </a:p>
          <a:p xmlns:a="http://schemas.openxmlformats.org/drawingml/2006/main">
            <a:r>
              <a:t>- GDACS — https://www.gdacs.org/</a:t>
            </a:r>
          </a:p>
          <a:p xmlns:a="http://schemas.openxmlformats.org/drawingml/2006/main">
            <a:r>
              <a:t>- USGS Earthquake Hazards Program — https://earthquake.usgs.gov/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 is the operational center of NAVIRA. It uses real geographic proportions and live sources. Each record keeps its coordinates, category, timestamp, status, source and freshness. When a source does not provide enough geometry or availability, NAVIRA says so instead of inventing it.</a:t>
            </a:r>
          </a:p>
          <a:p xmlns:a="http://schemas.openxmlformats.org/drawingml/2006/main">
            <a:r>
              <a:t/>
            </a:r>
          </a:p>
          <a:p xmlns:a="http://schemas.openxmlformats.org/drawingml/2006/main">
            <a:r>
              <a:t>Sources:</a:t>
            </a:r>
          </a:p>
          <a:p xmlns:a="http://schemas.openxmlformats.org/drawingml/2006/main">
            <a:r>
              <a:t>- MapLibre GL JS — https://maplibre.org/</a:t>
            </a:r>
          </a:p>
          <a:p xmlns:a="http://schemas.openxmlformats.org/drawingml/2006/main">
            <a:r>
              <a:t>- OpenFreeMap — https://openfreemap.org/</a:t>
            </a:r>
          </a:p>
          <a:p xmlns:a="http://schemas.openxmlformats.org/drawingml/2006/main">
            <a:r>
              <a:t>- OpenStreetMap — https://www.openstreetmap.org/</a:t>
            </a:r>
          </a:p>
          <a:p xmlns:a="http://schemas.openxmlformats.org/drawingml/2006/main">
            <a:r>
              <a:t>- NASA EONET — https://eonet.gsfc.nasa.gov/</a:t>
            </a:r>
          </a:p>
          <a:p xmlns:a="http://schemas.openxmlformats.org/drawingml/2006/main">
            <a:r>
              <a:t>- GDACS — https://www.gdacs.org/</a:t>
            </a:r>
          </a:p>
          <a:p xmlns:a="http://schemas.openxmlformats.org/drawingml/2006/main">
            <a:r>
              <a:t>- USGS Earthquake Hazards Program — https://earthquake.usgs.gov/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 You starts from the civilian’s actual location, with permission. It centers the map on the user, retrieves the surrounding verified events, computes distance, and checks the user’s coordinates against source geometry where that geometry exists. NAVIRA never creates a danger circle just to fill a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civilian safety sequence: World, Near You, Hazard, Destination, Routes, Escape. NAVIRA only exposes escape planning when verified geometry supports the risk state. It uses a real routing engine for travel time and road geometry, then compares route exposure to verified hazards. During navigation it can re-evaluate when hazards, alerts or verified closures materially change, and it tells the user why.</a:t>
            </a:r>
          </a:p>
          <a:p xmlns:a="http://schemas.openxmlformats.org/drawingml/2006/main">
            <a:r>
              <a:t/>
            </a:r>
          </a:p>
          <a:p xmlns:a="http://schemas.openxmlformats.org/drawingml/2006/main">
            <a:r>
              <a:t>Sources:</a:t>
            </a:r>
          </a:p>
          <a:p xmlns:a="http://schemas.openxmlformats.org/drawingml/2006/main">
            <a:r>
              <a:t>- OSRM routing engine — https://project-osrm.org/</a:t>
            </a:r>
          </a:p>
          <a:p xmlns:a="http://schemas.openxmlformats.org/drawingml/2006/main">
            <a:r>
              <a:t>- Open511 road-event data standard — https://open511.org/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Civilians can contribute evidence without letting unverified reports become operational truth. They capture or upload an image, attach their location with permission, and submit a small incident form. An operator must review the evidence before it becomes a community incident on the map. Help requests remain tied to verified nearby hazards.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workspace is built around an active incident context. That context links hazards, alerts, help requests, assignments, resources, road restrictions and notes. Operators can create incidents, switch between authorized incidents, change operational phase, and keep the same context visible across the response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can see consented civilian positions alongside verified hazards and reviewed community evidence. Help requests follow a server-authoritative lifecycle. Responders can be assigned and acknowledge work. Resources can be allocated only from known stock. Active routes can be monitored against verified hazard and road-restriction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 context and accountability are connected. An incident stores its area, severity, phase, status, organization, lead and linked operational records. The audit trail records server time, actor, role, action, affected record, previous state, resulting state and metadata. The interface distinguishes system, civilian, responder and operator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also provides shared intelligence views. Civilians and operators can filter analytics by place, inspect event categories and source coverage, follow the event ledger and timeline, and open related reporting. News remains clearly labeled as reporting context rather than agency-verified operational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pillar is the Infrastructure Simulation Lab. Operators can import mapped infrastructure, search by address, review exterior imagery in a human-in-the-loop workflow, use AI only to describe approved visual evidence, or build a custom structure. The 3D editor supports direct face, edge and vertex manipulation. Hazard scenarios animate deformation, water, wind, cracks and damage regions. Scenario comparison keeps the building and hazard constant while design parameters differ. Outputs are clearly labeled visual or heuristic and never claim engineering safety without a validated solver.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is an architectural choice. Source data enters through explicit adapters. Geographic risk, route geometry, state transitions and allocations remain deterministic. Roles and incident access are enforced on the server. AI can explain already retrieved facts and interpret operator-approved images, but it cannot decide whether a disaster exists, invent coordinates, create hazard boundaries, choose routes or issue evacuation decisions. Secrets remain server-side, authentication uses HttpOnly cookies, and durable state can run on Upstash-backed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demo. I’ll move through the civilian and operator sides, show the real-data map and Near You flow, trace the operational response, and finish in the Infrastructure Simulation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NAVIRA brings verified disaster intelligence, civilian protection, operator coordination and infrastructure testing into one coherent system. It is built to make the next decision clearer, faster and more accountable.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8aa37783294c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9c944949a345a5" /><Relationship Type="http://schemas.openxmlformats.org/officeDocument/2006/relationships/slideLayout" Target="/ppt/slideLayouts/slideLayout1.xml" Id="R9d739cb17b9349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739cb17b9349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f6c2b21a79469a" /><Relationship Type="http://schemas.openxmlformats.org/officeDocument/2006/relationships/image" Target="/ppt/media/image.png" Id="R842bf2b5ce0a4e34" /><Relationship Type="http://schemas.openxmlformats.org/officeDocument/2006/relationships/notesSlide" Target="/ppt/notesSlides/notesSlide1.xml" Id="Rd13cf5bc45e447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c08957b4014300" /><Relationship Type="http://schemas.openxmlformats.org/officeDocument/2006/relationships/notesSlide" Target="/ppt/notesSlides/notesSlide2.xml" Id="R0af4d8493f3b4e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31eae9f59843d5" /><Relationship Type="http://schemas.openxmlformats.org/officeDocument/2006/relationships/notesSlide" Target="/ppt/notesSlides/notesSlide3.xml" Id="R086bbd5ddf5640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734dbbdcda4a9e" /><Relationship Type="http://schemas.openxmlformats.org/officeDocument/2006/relationships/image" Target="/ppt/media/image2.png" Id="R9fbc87b2b4684bde" /><Relationship Type="http://schemas.openxmlformats.org/officeDocument/2006/relationships/notesSlide" Target="/ppt/notesSlides/notesSlide4.xml" Id="R5b064a1b172648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6977a92ab14a13" /><Relationship Type="http://schemas.openxmlformats.org/officeDocument/2006/relationships/image" Target="/ppt/media/image3.png" Id="Re7467a52f508450f" /><Relationship Type="http://schemas.openxmlformats.org/officeDocument/2006/relationships/notesSlide" Target="/ppt/notesSlides/notesSlide5.xml" Id="R49367a3149414b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99b4a477ea48ef" /><Relationship Type="http://schemas.openxmlformats.org/officeDocument/2006/relationships/image" Target="/ppt/media/image4.png" Id="R4fca7455cb1740c4" /><Relationship Type="http://schemas.openxmlformats.org/officeDocument/2006/relationships/notesSlide" Target="/ppt/notesSlides/notesSlide6.xml" Id="R1c5ba8d6ce0d41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82ca420fae4366" /><Relationship Type="http://schemas.openxmlformats.org/officeDocument/2006/relationships/notesSlide" Target="/ppt/notesSlides/notesSlide7.xml" Id="R966e39d294aa48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66b68f63704a96" /><Relationship Type="http://schemas.openxmlformats.org/officeDocument/2006/relationships/image" Target="/ppt/media/image5.png" Id="R17d707da5c224804" /><Relationship Type="http://schemas.openxmlformats.org/officeDocument/2006/relationships/notesSlide" Target="/ppt/notesSlides/notesSlide8.xml" Id="R1a69ba861cce49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6b9f098045404a" /><Relationship Type="http://schemas.openxmlformats.org/officeDocument/2006/relationships/image" Target="/ppt/media/image6.png" Id="Refe7ef0763014419" /><Relationship Type="http://schemas.openxmlformats.org/officeDocument/2006/relationships/notesSlide" Target="/ppt/notesSlides/notesSlide9.xml" Id="R8d7bc3b9681543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546bf0afff497a" /><Relationship Type="http://schemas.openxmlformats.org/officeDocument/2006/relationships/image" Target="/ppt/media/image7.png" Id="R1555635d27db4598" /><Relationship Type="http://schemas.openxmlformats.org/officeDocument/2006/relationships/image" Target="/ppt/media/image8.png" Id="R52fa9c2b55784762" /><Relationship Type="http://schemas.openxmlformats.org/officeDocument/2006/relationships/notesSlide" Target="/ppt/notesSlides/notesSlide10.xml" Id="R5123c5ed679045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0bfc2837b34df7" /><Relationship Type="http://schemas.openxmlformats.org/officeDocument/2006/relationships/image" Target="/ppt/media/image9.png" Id="R0e961b3e02e64203" /><Relationship Type="http://schemas.openxmlformats.org/officeDocument/2006/relationships/notesSlide" Target="/ppt/notesSlides/notesSlide11.xml" Id="R252c4e5b549846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c13a9728fb34155" /><Relationship Type="http://schemas.openxmlformats.org/officeDocument/2006/relationships/image" Target="/ppt/media/image10.png" Id="Rd6da43de4cac4925" /><Relationship Type="http://schemas.openxmlformats.org/officeDocument/2006/relationships/notesSlide" Target="/ppt/notesSlides/notesSlide12.xml" Id="R79709dc932334f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bd2127ee9384a8e" /><Relationship Type="http://schemas.openxmlformats.org/officeDocument/2006/relationships/notesSlide" Target="/ppt/notesSlides/notesSlide13.xml" Id="Rd57383765c524a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db26719ce5b465e" /><Relationship Type="http://schemas.openxmlformats.org/officeDocument/2006/relationships/notesSlide" Target="/ppt/notesSlides/notesSlide14.xml" Id="Ra22e2f3faa944a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dbb9b8928f54943" /><Relationship Type="http://schemas.openxmlformats.org/officeDocument/2006/relationships/notesSlide" Target="/ppt/notesSlides/notesSlide15.xml" Id="Rd9a7d10c767d4661" /></Relationships>
</file>

<file path=ppt/slides/slide1.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8F9DC2A-869B-44DF-980E-1F7EE8153474}"/>
              </a:ext>
            </a:extLst>
          </p:cNvPr>
          <p:cNvSpPr>
            <a:spLocks xmlns:a="http://schemas.openxmlformats.org/drawingml/2006/main" noGrp="1"/>
          </p:cNvSpPr>
          <p:nvPr/>
        </p:nvSpPr>
        <p:spPr>
          <a:xfrm xmlns:a="http://schemas.openxmlformats.org/drawingml/2006/main">
            <a:off x="6305550" y="838200"/>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LIVE PRODUCT</a:t>
            </a:r>
          </a:p>
        </p:txBody>
      </p:sp>
      <p:sp>
        <p:nvSpPr>
          <p:cNvPr id="2" name="">
            <a:extLst xmlns:a="http://schemas.openxmlformats.org/drawingml/2006/main">
              <a:ext uri="{FF2B5EF4-FFF2-40B4-BE49-F238E27FC236}">
                <a16:creationId xmlns:a16="http://schemas.microsoft.com/office/drawing/2014/main" id="{F5DA816C-1BB8-42F3-A6D1-C8DD2D178C52}"/>
              </a:ext>
            </a:extLst>
          </p:cNvPr>
          <p:cNvSpPr>
            <a:spLocks xmlns:a="http://schemas.openxmlformats.org/drawingml/2006/main" noGrp="1"/>
          </p:cNvSpPr>
          <p:nvPr/>
        </p:nvSpPr>
        <p:spPr>
          <a:xfrm xmlns:a="http://schemas.openxmlformats.org/drawingml/2006/main">
            <a:off x="6286500" y="1162050"/>
            <a:ext cx="5467350" cy="309562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42bf2b5ce0a4e34"/>
          <a:srcRect xmlns:a="http://schemas.openxmlformats.org/drawingml/2006/main" l="58" t="0" r="58" b="0"/>
          <a:stretch xmlns:a="http://schemas.openxmlformats.org/drawingml/2006/main">
            <a:fillRect l="0" t="0" r="0" b="0"/>
          </a:stretch>
        </p:blipFill>
        <p:spPr>
          <a:xfrm xmlns:a="http://schemas.openxmlformats.org/drawingml/2006/main">
            <a:off x="6305550" y="1181100"/>
            <a:ext cx="5429250" cy="30575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9B302A-E4FC-4CAF-8EC2-886B1243F94D}"/>
              </a:ext>
            </a:extLst>
          </p:cNvPr>
          <p:cNvSpPr>
            <a:spLocks xmlns:a="http://schemas.openxmlformats.org/drawingml/2006/main" noGrp="1"/>
          </p:cNvSpPr>
          <p:nvPr/>
        </p:nvSpPr>
        <p:spPr>
          <a:xfrm xmlns:a="http://schemas.openxmlformats.org/drawingml/2006/main">
            <a:off x="6305550" y="4591050"/>
            <a:ext cx="5429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FB96A6-1F77-4F04-8304-2DAE04400B15}"/>
              </a:ext>
            </a:extLst>
          </p:cNvPr>
          <p:cNvSpPr>
            <a:spLocks xmlns:a="http://schemas.openxmlformats.org/drawingml/2006/main" noGrp="1"/>
          </p:cNvSpPr>
          <p:nvPr/>
        </p:nvSpPr>
        <p:spPr>
          <a:xfrm xmlns:a="http://schemas.openxmlformats.org/drawingml/2006/main">
            <a:off x="6305550" y="48387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F3B1F"/>
                </a:solidFill>
                <a:latin typeface="Bahnschrift"/>
                <a:ea typeface="Bahnschrift"/>
                <a:cs typeface="Bahnschrift"/>
              </a:defRPr>
            </a:pPr>
            <a:r>
              <a:rPr sz="1050" b="1" i="0">
                <a:solidFill>
                  <a:srgbClr val="FF3B1F"/>
                </a:solidFill>
                <a:latin typeface="Bahnschrift"/>
                <a:ea typeface="Bahnschrift"/>
                <a:cs typeface="Bahnschrift"/>
              </a:rPr>
              <a:t>UNDERSTAND</a:t>
            </a:r>
          </a:p>
        </p:txBody>
      </p:sp>
      <p:sp>
        <p:nvSpPr>
          <p:cNvPr id="6" name="">
            <a:extLst xmlns:a="http://schemas.openxmlformats.org/drawingml/2006/main">
              <a:ext uri="{FF2B5EF4-FFF2-40B4-BE49-F238E27FC236}">
                <a16:creationId xmlns:a16="http://schemas.microsoft.com/office/drawing/2014/main" id="{390A191E-E3E7-418F-B1D1-48A81524EF2B}"/>
              </a:ext>
            </a:extLst>
          </p:cNvPr>
          <p:cNvSpPr>
            <a:spLocks xmlns:a="http://schemas.openxmlformats.org/drawingml/2006/main" noGrp="1"/>
          </p:cNvSpPr>
          <p:nvPr/>
        </p:nvSpPr>
        <p:spPr>
          <a:xfrm xmlns:a="http://schemas.openxmlformats.org/drawingml/2006/main">
            <a:off x="8153400" y="48387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PROTECT</a:t>
            </a:r>
          </a:p>
        </p:txBody>
      </p:sp>
      <p:sp>
        <p:nvSpPr>
          <p:cNvPr id="7" name="">
            <a:extLst xmlns:a="http://schemas.openxmlformats.org/drawingml/2006/main">
              <a:ext uri="{FF2B5EF4-FFF2-40B4-BE49-F238E27FC236}">
                <a16:creationId xmlns:a16="http://schemas.microsoft.com/office/drawing/2014/main" id="{677F5B18-B201-4B4B-AC2D-F391A4630C83}"/>
              </a:ext>
            </a:extLst>
          </p:cNvPr>
          <p:cNvSpPr>
            <a:spLocks xmlns:a="http://schemas.openxmlformats.org/drawingml/2006/main" noGrp="1"/>
          </p:cNvSpPr>
          <p:nvPr/>
        </p:nvSpPr>
        <p:spPr>
          <a:xfrm xmlns:a="http://schemas.openxmlformats.org/drawingml/2006/main">
            <a:off x="9877425" y="48387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TEST</a:t>
            </a:r>
          </a:p>
        </p:txBody>
      </p:sp>
      <p:sp>
        <p:nvSpPr>
          <p:cNvPr id="8" name="">
            <a:extLst xmlns:a="http://schemas.openxmlformats.org/drawingml/2006/main">
              <a:ext uri="{FF2B5EF4-FFF2-40B4-BE49-F238E27FC236}">
                <a16:creationId xmlns:a16="http://schemas.microsoft.com/office/drawing/2014/main" id="{AC10FDEE-851D-4129-B8A5-56A4AC74AC1B}"/>
              </a:ext>
            </a:extLst>
          </p:cNvPr>
          <p:cNvSpPr>
            <a:spLocks xmlns:a="http://schemas.openxmlformats.org/drawingml/2006/main" noGrp="1"/>
          </p:cNvSpPr>
          <p:nvPr/>
        </p:nvSpPr>
        <p:spPr>
          <a:xfrm xmlns:a="http://schemas.openxmlformats.org/drawingml/2006/main">
            <a:off x="6305550" y="518160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Real data</a:t>
            </a:r>
          </a:p>
        </p:txBody>
      </p:sp>
      <p:sp>
        <p:nvSpPr>
          <p:cNvPr id="9" name="">
            <a:extLst xmlns:a="http://schemas.openxmlformats.org/drawingml/2006/main">
              <a:ext uri="{FF2B5EF4-FFF2-40B4-BE49-F238E27FC236}">
                <a16:creationId xmlns:a16="http://schemas.microsoft.com/office/drawing/2014/main" id="{17CD0CC5-5E98-4477-AFDF-ACE8B24DC5D7}"/>
              </a:ext>
            </a:extLst>
          </p:cNvPr>
          <p:cNvSpPr>
            <a:spLocks xmlns:a="http://schemas.openxmlformats.org/drawingml/2006/main" noGrp="1"/>
          </p:cNvSpPr>
          <p:nvPr/>
        </p:nvSpPr>
        <p:spPr>
          <a:xfrm xmlns:a="http://schemas.openxmlformats.org/drawingml/2006/main">
            <a:off x="8153400" y="518160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Safer action</a:t>
            </a:r>
          </a:p>
        </p:txBody>
      </p:sp>
      <p:sp>
        <p:nvSpPr>
          <p:cNvPr id="10" name="">
            <a:extLst xmlns:a="http://schemas.openxmlformats.org/drawingml/2006/main">
              <a:ext uri="{FF2B5EF4-FFF2-40B4-BE49-F238E27FC236}">
                <a16:creationId xmlns:a16="http://schemas.microsoft.com/office/drawing/2014/main" id="{DFF72914-BA8E-4020-8A07-A8B32E2C5A38}"/>
              </a:ext>
            </a:extLst>
          </p:cNvPr>
          <p:cNvSpPr>
            <a:spLocks xmlns:a="http://schemas.openxmlformats.org/drawingml/2006/main" noGrp="1"/>
          </p:cNvSpPr>
          <p:nvPr/>
        </p:nvSpPr>
        <p:spPr>
          <a:xfrm xmlns:a="http://schemas.openxmlformats.org/drawingml/2006/main">
            <a:off x="9877425" y="518160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3D scenarios</a:t>
            </a:r>
          </a:p>
        </p:txBody>
      </p:sp>
      <p:sp>
        <p:nvSpPr>
          <p:cNvPr id="11" name="">
            <a:extLst xmlns:a="http://schemas.openxmlformats.org/drawingml/2006/main">
              <a:ext uri="{FF2B5EF4-FFF2-40B4-BE49-F238E27FC236}">
                <a16:creationId xmlns:a16="http://schemas.microsoft.com/office/drawing/2014/main" id="{0E656580-7195-442A-BB3C-43FDBE9D0DDA}"/>
              </a:ext>
            </a:extLst>
          </p:cNvPr>
          <p:cNvSpPr>
            <a:spLocks xmlns:a="http://schemas.openxmlformats.org/drawingml/2006/main" noGrp="1"/>
          </p:cNvSpPr>
          <p:nvPr/>
        </p:nvSpPr>
        <p:spPr>
          <a:xfrm xmlns:a="http://schemas.openxmlformats.org/drawingml/2006/main">
            <a:off x="457200" y="419100"/>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FAAEE61-B15F-408A-A9F9-B71281DDE59F}"/>
              </a:ext>
            </a:extLst>
          </p:cNvPr>
          <p:cNvSpPr>
            <a:spLocks xmlns:a="http://schemas.openxmlformats.org/drawingml/2006/main" noGrp="1"/>
          </p:cNvSpPr>
          <p:nvPr/>
        </p:nvSpPr>
        <p:spPr>
          <a:xfrm xmlns:a="http://schemas.openxmlformats.org/drawingml/2006/main">
            <a:off x="457200" y="5905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HACKATHON SUBMISSION</a:t>
            </a:r>
          </a:p>
        </p:txBody>
      </p:sp>
      <p:sp>
        <p:nvSpPr>
          <p:cNvPr id="13" name="">
            <a:extLst xmlns:a="http://schemas.openxmlformats.org/drawingml/2006/main">
              <a:ext uri="{FF2B5EF4-FFF2-40B4-BE49-F238E27FC236}">
                <a16:creationId xmlns:a16="http://schemas.microsoft.com/office/drawing/2014/main" id="{A8E6E377-EDBC-4539-AB27-120170391521}"/>
              </a:ext>
            </a:extLst>
          </p:cNvPr>
          <p:cNvSpPr>
            <a:spLocks xmlns:a="http://schemas.openxmlformats.org/drawingml/2006/main" noGrp="1"/>
          </p:cNvSpPr>
          <p:nvPr/>
        </p:nvSpPr>
        <p:spPr>
          <a:xfrm xmlns:a="http://schemas.openxmlformats.org/drawingml/2006/main">
            <a:off x="457200" y="135255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700" b="1" i="0">
                <a:solidFill>
                  <a:srgbClr val="F1EEE9"/>
                </a:solidFill>
                <a:latin typeface="Bahnschrift"/>
                <a:ea typeface="Bahnschrift"/>
                <a:cs typeface="Bahnschrift"/>
              </a:defRPr>
            </a:pPr>
            <a:r>
              <a:rPr sz="5700" b="1" i="0">
                <a:solidFill>
                  <a:srgbClr val="F1EEE9"/>
                </a:solidFill>
                <a:latin typeface="Bahnschrift"/>
                <a:ea typeface="Bahnschrift"/>
                <a:cs typeface="Bahnschrift"/>
              </a:rPr>
              <a:t>NAVIRA</a:t>
            </a:r>
          </a:p>
        </p:txBody>
      </p:sp>
      <p:sp>
        <p:nvSpPr>
          <p:cNvPr id="14" name="">
            <a:extLst xmlns:a="http://schemas.openxmlformats.org/drawingml/2006/main">
              <a:ext uri="{FF2B5EF4-FFF2-40B4-BE49-F238E27FC236}">
                <a16:creationId xmlns:a16="http://schemas.microsoft.com/office/drawing/2014/main" id="{604CC7CE-B7CE-4FB1-91D0-84CF980703EA}"/>
              </a:ext>
            </a:extLst>
          </p:cNvPr>
          <p:cNvSpPr>
            <a:spLocks xmlns:a="http://schemas.openxmlformats.org/drawingml/2006/main" noGrp="1"/>
          </p:cNvSpPr>
          <p:nvPr/>
        </p:nvSpPr>
        <p:spPr>
          <a:xfrm xmlns:a="http://schemas.openxmlformats.org/drawingml/2006/main">
            <a:off x="457200" y="2428875"/>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2625" b="1" i="0">
                <a:solidFill>
                  <a:srgbClr val="F1EEE9"/>
                </a:solidFill>
                <a:latin typeface="Arial"/>
                <a:ea typeface="Arial"/>
                <a:cs typeface="Arial"/>
              </a:defRPr>
            </a:pPr>
            <a:r>
              <a:rPr sz="2625" b="1" i="0">
                <a:solidFill>
                  <a:srgbClr val="F1EEE9"/>
                </a:solidFill>
                <a:latin typeface="Arial"/>
                <a:ea typeface="Arial"/>
                <a:cs typeface="Arial"/>
              </a:rPr>
              <a:t>Disaster response from</a:t>
            </a:r>
          </a:p>
          <a:p xmlns:a="http://schemas.openxmlformats.org/drawingml/2006/main">
            <a:pPr algn="l">
              <a:lnSpc>
                <a:spcPct val="92000"/>
              </a:lnSpc>
              <a:buNone/>
              <a:defRPr sz="2625" b="1" i="0">
                <a:solidFill>
                  <a:srgbClr val="F1EEE9"/>
                </a:solidFill>
                <a:latin typeface="Arial"/>
                <a:ea typeface="Arial"/>
                <a:cs typeface="Arial"/>
              </a:defRPr>
            </a:pPr>
            <a:r>
              <a:rPr sz="2625" b="1" i="0">
                <a:solidFill>
                  <a:srgbClr val="F1EEE9"/>
                </a:solidFill>
                <a:latin typeface="Arial"/>
                <a:ea typeface="Arial"/>
                <a:cs typeface="Arial"/>
              </a:rPr>
              <a:t>verified signal to safer action.</a:t>
            </a:r>
          </a:p>
        </p:txBody>
      </p:sp>
      <p:sp>
        <p:nvSpPr>
          <p:cNvPr id="15" name="">
            <a:extLst xmlns:a="http://schemas.openxmlformats.org/drawingml/2006/main">
              <a:ext uri="{FF2B5EF4-FFF2-40B4-BE49-F238E27FC236}">
                <a16:creationId xmlns:a16="http://schemas.microsoft.com/office/drawing/2014/main" id="{497D0706-C01A-468A-B9F0-39B38F4B8F05}"/>
              </a:ext>
            </a:extLst>
          </p:cNvPr>
          <p:cNvSpPr>
            <a:spLocks xmlns:a="http://schemas.openxmlformats.org/drawingml/2006/main" noGrp="1"/>
          </p:cNvSpPr>
          <p:nvPr/>
        </p:nvSpPr>
        <p:spPr>
          <a:xfrm xmlns:a="http://schemas.openxmlformats.org/drawingml/2006/main">
            <a:off x="457200" y="39052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00" b="0" i="0">
                <a:solidFill>
                  <a:srgbClr val="AAB0B4"/>
                </a:solidFill>
                <a:latin typeface="Arial"/>
                <a:ea typeface="Arial"/>
                <a:cs typeface="Arial"/>
              </a:defRPr>
            </a:pPr>
            <a:r>
              <a:rPr sz="1500" b="0" i="0">
                <a:solidFill>
                  <a:srgbClr val="AAB0B4"/>
                </a:solidFill>
                <a:latin typeface="Arial"/>
                <a:ea typeface="Arial"/>
                <a:cs typeface="Arial"/>
              </a:rPr>
              <a:t>Understand the hazard. Protect people in its path. Test what comes next.</a:t>
            </a:r>
          </a:p>
        </p:txBody>
      </p:sp>
      <p:sp>
        <p:nvSpPr>
          <p:cNvPr id="16" name="">
            <a:extLst xmlns:a="http://schemas.openxmlformats.org/drawingml/2006/main">
              <a:ext uri="{FF2B5EF4-FFF2-40B4-BE49-F238E27FC236}">
                <a16:creationId xmlns:a16="http://schemas.microsoft.com/office/drawing/2014/main" id="{B2089422-F835-4B27-86FC-A17A3298E7C9}"/>
              </a:ext>
            </a:extLst>
          </p:cNvPr>
          <p:cNvSpPr>
            <a:spLocks xmlns:a="http://schemas.openxmlformats.org/drawingml/2006/main" noGrp="1"/>
          </p:cNvSpPr>
          <p:nvPr/>
        </p:nvSpPr>
        <p:spPr>
          <a:xfrm xmlns:a="http://schemas.openxmlformats.org/drawingml/2006/main">
            <a:off x="457200" y="5219700"/>
            <a:ext cx="49530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9E7BC21-9E57-43D1-B0D1-D3F657C52C96}"/>
              </a:ext>
            </a:extLst>
          </p:cNvPr>
          <p:cNvSpPr>
            <a:spLocks xmlns:a="http://schemas.openxmlformats.org/drawingml/2006/main" noGrp="1"/>
          </p:cNvSpPr>
          <p:nvPr/>
        </p:nvSpPr>
        <p:spPr>
          <a:xfrm xmlns:a="http://schemas.openxmlformats.org/drawingml/2006/main">
            <a:off x="457200" y="54768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1EEE9"/>
                </a:solidFill>
                <a:latin typeface="Bahnschrift"/>
                <a:ea typeface="Bahnschrift"/>
                <a:cs typeface="Bahnschrift"/>
              </a:defRPr>
            </a:pPr>
            <a:r>
              <a:rPr sz="1275" b="1" i="0">
                <a:solidFill>
                  <a:srgbClr val="F1EEE9"/>
                </a:solidFill>
                <a:latin typeface="Bahnschrift"/>
                <a:ea typeface="Bahnschrift"/>
                <a:cs typeface="Bahnschrift"/>
              </a:rPr>
              <a:t>RISHABH MITTAL</a:t>
            </a:r>
          </a:p>
        </p:txBody>
      </p:sp>
      <p:sp>
        <p:nvSpPr>
          <p:cNvPr id="18" name="">
            <a:extLst xmlns:a="http://schemas.openxmlformats.org/drawingml/2006/main">
              <a:ext uri="{FF2B5EF4-FFF2-40B4-BE49-F238E27FC236}">
                <a16:creationId xmlns:a16="http://schemas.microsoft.com/office/drawing/2014/main" id="{92951EFE-4D52-4DBE-9999-955788625C8F}"/>
              </a:ext>
            </a:extLst>
          </p:cNvPr>
          <p:cNvSpPr>
            <a:spLocks xmlns:a="http://schemas.openxmlformats.org/drawingml/2006/main" noGrp="1"/>
          </p:cNvSpPr>
          <p:nvPr/>
        </p:nvSpPr>
        <p:spPr>
          <a:xfrm xmlns:a="http://schemas.openxmlformats.org/drawingml/2006/main">
            <a:off x="457200" y="58102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Civilians · Responders · Command centers</a:t>
            </a:r>
          </a:p>
        </p:txBody>
      </p:sp>
    </p:spTree>
    <p:extLst>
      <p:ext uri="{BB962C8B-B14F-4D97-AF65-F5344CB8AC3E}">
        <p14:creationId xmlns:p14="http://schemas.microsoft.com/office/powerpoint/2010/main" val="1149925775"/>
      </p:ext>
    </p:extLst>
  </p:cSld>
</p:sld>
</file>

<file path=ppt/slides/slide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6A03442-4583-44AA-927B-25FA4B85EA47}"/>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71BB61C8-4E4E-479A-ADA3-3D174660CC4B}"/>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02</a:t>
            </a:r>
          </a:p>
        </p:txBody>
      </p:sp>
      <p:sp>
        <p:nvSpPr>
          <p:cNvPr id="3" name="">
            <a:extLst xmlns:a="http://schemas.openxmlformats.org/drawingml/2006/main">
              <a:ext uri="{FF2B5EF4-FFF2-40B4-BE49-F238E27FC236}">
                <a16:creationId xmlns:a16="http://schemas.microsoft.com/office/drawing/2014/main" id="{B63CCEFE-D441-43BA-B5C8-E11C0AE5F856}"/>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C1E6510-8909-49A0-AD2C-3A416706679F}"/>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THE RESPONSE GAP</a:t>
            </a:r>
          </a:p>
        </p:txBody>
      </p:sp>
      <p:sp>
        <p:nvSpPr>
          <p:cNvPr id="5" name="">
            <a:extLst xmlns:a="http://schemas.openxmlformats.org/drawingml/2006/main">
              <a:ext uri="{FF2B5EF4-FFF2-40B4-BE49-F238E27FC236}">
                <a16:creationId xmlns:a16="http://schemas.microsoft.com/office/drawing/2014/main" id="{8F16812B-F0A9-41D9-BF98-D02BEFB2A699}"/>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8F1DE6A-D4CA-49F6-B2E5-8489BAC6064C}"/>
              </a:ext>
            </a:extLst>
          </p:cNvPr>
          <p:cNvSpPr>
            <a:spLocks xmlns:a="http://schemas.openxmlformats.org/drawingml/2006/main" noGrp="1"/>
          </p:cNvSpPr>
          <p:nvPr/>
        </p:nvSpPr>
        <p:spPr>
          <a:xfrm xmlns:a="http://schemas.openxmlformats.org/drawingml/2006/main">
            <a:off x="457200" y="1257300"/>
            <a:ext cx="723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825" b="1" i="0">
                <a:solidFill>
                  <a:srgbClr val="0F1113"/>
                </a:solidFill>
                <a:latin typeface="Bahnschrift"/>
                <a:ea typeface="Bahnschrift"/>
                <a:cs typeface="Bahnschrift"/>
              </a:defRPr>
            </a:pPr>
            <a:r>
              <a:rPr sz="3825" b="1" i="0">
                <a:solidFill>
                  <a:srgbClr val="0F1113"/>
                </a:solidFill>
                <a:latin typeface="Bahnschrift"/>
                <a:ea typeface="Bahnschrift"/>
                <a:cs typeface="Bahnschrift"/>
              </a:rPr>
              <a:t>ONE DISASTER.</a:t>
            </a:r>
          </a:p>
          <a:p xmlns:a="http://schemas.openxmlformats.org/drawingml/2006/main">
            <a:pPr algn="l">
              <a:lnSpc>
                <a:spcPct val="90000"/>
              </a:lnSpc>
              <a:buNone/>
              <a:defRPr sz="3825" b="1" i="0">
                <a:solidFill>
                  <a:srgbClr val="0F1113"/>
                </a:solidFill>
                <a:latin typeface="Bahnschrift"/>
                <a:ea typeface="Bahnschrift"/>
                <a:cs typeface="Bahnschrift"/>
              </a:defRPr>
            </a:pPr>
            <a:r>
              <a:rPr sz="3825" b="1" i="0">
                <a:solidFill>
                  <a:srgbClr val="0F1113"/>
                </a:solidFill>
                <a:latin typeface="Bahnschrift"/>
                <a:ea typeface="Bahnschrift"/>
                <a:cs typeface="Bahnschrift"/>
              </a:rPr>
              <a:t>THREE BROKEN HANDOFFS.</a:t>
            </a:r>
          </a:p>
        </p:txBody>
      </p:sp>
      <p:sp>
        <p:nvSpPr>
          <p:cNvPr id="7" name="">
            <a:extLst xmlns:a="http://schemas.openxmlformats.org/drawingml/2006/main">
              <a:ext uri="{FF2B5EF4-FFF2-40B4-BE49-F238E27FC236}">
                <a16:creationId xmlns:a16="http://schemas.microsoft.com/office/drawing/2014/main" id="{D621F55C-3D5E-481F-99FB-A258F9DAC0A3}"/>
              </a:ext>
            </a:extLst>
          </p:cNvPr>
          <p:cNvSpPr>
            <a:spLocks xmlns:a="http://schemas.openxmlformats.org/drawingml/2006/main" noGrp="1"/>
          </p:cNvSpPr>
          <p:nvPr/>
        </p:nvSpPr>
        <p:spPr>
          <a:xfrm xmlns:a="http://schemas.openxmlformats.org/drawingml/2006/main">
            <a:off x="8001000" y="140970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91C1F"/>
                </a:solidFill>
                <a:latin typeface="Arial"/>
                <a:ea typeface="Arial"/>
                <a:cs typeface="Arial"/>
              </a:defRPr>
            </a:pPr>
            <a:r>
              <a:rPr sz="1725" b="0" i="0">
                <a:solidFill>
                  <a:srgbClr val="191C1F"/>
                </a:solidFill>
                <a:latin typeface="Arial"/>
                <a:ea typeface="Arial"/>
                <a:cs typeface="Arial"/>
              </a:rPr>
              <a:t>A warning can be accurate and still fail people if it never becomes a clear local decision.</a:t>
            </a:r>
          </a:p>
        </p:txBody>
      </p:sp>
      <p:sp>
        <p:nvSpPr>
          <p:cNvPr id="8" name="">
            <a:extLst xmlns:a="http://schemas.openxmlformats.org/drawingml/2006/main">
              <a:ext uri="{FF2B5EF4-FFF2-40B4-BE49-F238E27FC236}">
                <a16:creationId xmlns:a16="http://schemas.microsoft.com/office/drawing/2014/main" id="{58A5F357-77C9-437B-A786-7A2603158C5C}"/>
              </a:ext>
            </a:extLst>
          </p:cNvPr>
          <p:cNvSpPr>
            <a:spLocks xmlns:a="http://schemas.openxmlformats.org/drawingml/2006/main" noGrp="1"/>
          </p:cNvSpPr>
          <p:nvPr/>
        </p:nvSpPr>
        <p:spPr>
          <a:xfrm xmlns:a="http://schemas.openxmlformats.org/drawingml/2006/main">
            <a:off x="457200" y="3162300"/>
            <a:ext cx="3390900" cy="28575"/>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823F9A8-BB85-4B15-A2DC-CD6C44756030}"/>
              </a:ext>
            </a:extLst>
          </p:cNvPr>
          <p:cNvSpPr>
            <a:spLocks xmlns:a="http://schemas.openxmlformats.org/drawingml/2006/main" noGrp="1"/>
          </p:cNvSpPr>
          <p:nvPr/>
        </p:nvSpPr>
        <p:spPr>
          <a:xfrm xmlns:a="http://schemas.openxmlformats.org/drawingml/2006/main">
            <a:off x="4572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01</a:t>
            </a:r>
          </a:p>
        </p:txBody>
      </p:sp>
      <p:sp>
        <p:nvSpPr>
          <p:cNvPr id="10" name="">
            <a:extLst xmlns:a="http://schemas.openxmlformats.org/drawingml/2006/main">
              <a:ext uri="{FF2B5EF4-FFF2-40B4-BE49-F238E27FC236}">
                <a16:creationId xmlns:a16="http://schemas.microsoft.com/office/drawing/2014/main" id="{6E5A7894-3F95-4BC3-B054-F88DC917B54C}"/>
              </a:ext>
            </a:extLst>
          </p:cNvPr>
          <p:cNvSpPr>
            <a:spLocks xmlns:a="http://schemas.openxmlformats.org/drawingml/2006/main" noGrp="1"/>
          </p:cNvSpPr>
          <p:nvPr/>
        </p:nvSpPr>
        <p:spPr>
          <a:xfrm xmlns:a="http://schemas.openxmlformats.org/drawingml/2006/main">
            <a:off x="11811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SIGNAL</a:t>
            </a:r>
          </a:p>
        </p:txBody>
      </p:sp>
      <p:sp>
        <p:nvSpPr>
          <p:cNvPr id="11" name="">
            <a:extLst xmlns:a="http://schemas.openxmlformats.org/drawingml/2006/main">
              <a:ext uri="{FF2B5EF4-FFF2-40B4-BE49-F238E27FC236}">
                <a16:creationId xmlns:a16="http://schemas.microsoft.com/office/drawing/2014/main" id="{7C1517DE-C856-47BC-B855-0F1F11703622}"/>
              </a:ext>
            </a:extLst>
          </p:cNvPr>
          <p:cNvSpPr>
            <a:spLocks xmlns:a="http://schemas.openxmlformats.org/drawingml/2006/main" noGrp="1"/>
          </p:cNvSpPr>
          <p:nvPr/>
        </p:nvSpPr>
        <p:spPr>
          <a:xfrm xmlns:a="http://schemas.openxmlformats.org/drawingml/2006/main">
            <a:off x="4572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Hazard feeds, official alerts, maps, closures and reporting arrive separately.</a:t>
            </a:r>
          </a:p>
        </p:txBody>
      </p:sp>
      <p:sp>
        <p:nvSpPr>
          <p:cNvPr id="12" name="">
            <a:extLst xmlns:a="http://schemas.openxmlformats.org/drawingml/2006/main">
              <a:ext uri="{FF2B5EF4-FFF2-40B4-BE49-F238E27FC236}">
                <a16:creationId xmlns:a16="http://schemas.microsoft.com/office/drawing/2014/main" id="{7E3133BD-E78B-4C11-A000-351DA54E2A5A}"/>
              </a:ext>
            </a:extLst>
          </p:cNvPr>
          <p:cNvSpPr>
            <a:spLocks xmlns:a="http://schemas.openxmlformats.org/drawingml/2006/main" noGrp="1"/>
          </p:cNvSpPr>
          <p:nvPr/>
        </p:nvSpPr>
        <p:spPr>
          <a:xfrm xmlns:a="http://schemas.openxmlformats.org/drawingml/2006/main">
            <a:off x="4305300" y="3162300"/>
            <a:ext cx="3390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2FAFC62-41CA-4B44-8C40-F642D39C20CE}"/>
              </a:ext>
            </a:extLst>
          </p:cNvPr>
          <p:cNvSpPr>
            <a:spLocks xmlns:a="http://schemas.openxmlformats.org/drawingml/2006/main" noGrp="1"/>
          </p:cNvSpPr>
          <p:nvPr/>
        </p:nvSpPr>
        <p:spPr>
          <a:xfrm xmlns:a="http://schemas.openxmlformats.org/drawingml/2006/main">
            <a:off x="43053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02</a:t>
            </a:r>
          </a:p>
        </p:txBody>
      </p:sp>
      <p:sp>
        <p:nvSpPr>
          <p:cNvPr id="14" name="">
            <a:extLst xmlns:a="http://schemas.openxmlformats.org/drawingml/2006/main">
              <a:ext uri="{FF2B5EF4-FFF2-40B4-BE49-F238E27FC236}">
                <a16:creationId xmlns:a16="http://schemas.microsoft.com/office/drawing/2014/main" id="{CCF3EE52-2358-46F7-9BFF-D288994B476C}"/>
              </a:ext>
            </a:extLst>
          </p:cNvPr>
          <p:cNvSpPr>
            <a:spLocks xmlns:a="http://schemas.openxmlformats.org/drawingml/2006/main" noGrp="1"/>
          </p:cNvSpPr>
          <p:nvPr/>
        </p:nvSpPr>
        <p:spPr>
          <a:xfrm xmlns:a="http://schemas.openxmlformats.org/drawingml/2006/main">
            <a:off x="50292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DECISION</a:t>
            </a:r>
          </a:p>
        </p:txBody>
      </p:sp>
      <p:sp>
        <p:nvSpPr>
          <p:cNvPr id="15" name="">
            <a:extLst xmlns:a="http://schemas.openxmlformats.org/drawingml/2006/main">
              <a:ext uri="{FF2B5EF4-FFF2-40B4-BE49-F238E27FC236}">
                <a16:creationId xmlns:a16="http://schemas.microsoft.com/office/drawing/2014/main" id="{85498078-866E-4939-876F-40BC1242B8E4}"/>
              </a:ext>
            </a:extLst>
          </p:cNvPr>
          <p:cNvSpPr>
            <a:spLocks xmlns:a="http://schemas.openxmlformats.org/drawingml/2006/main" noGrp="1"/>
          </p:cNvSpPr>
          <p:nvPr/>
        </p:nvSpPr>
        <p:spPr>
          <a:xfrm xmlns:a="http://schemas.openxmlformats.org/drawingml/2006/main">
            <a:off x="43053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Civilians need to know whether they are affected and where to go now.</a:t>
            </a:r>
          </a:p>
        </p:txBody>
      </p:sp>
      <p:sp>
        <p:nvSpPr>
          <p:cNvPr id="16" name="">
            <a:extLst xmlns:a="http://schemas.openxmlformats.org/drawingml/2006/main">
              <a:ext uri="{FF2B5EF4-FFF2-40B4-BE49-F238E27FC236}">
                <a16:creationId xmlns:a16="http://schemas.microsoft.com/office/drawing/2014/main" id="{3CEE156E-71E6-48E6-AD53-FF916A4946E1}"/>
              </a:ext>
            </a:extLst>
          </p:cNvPr>
          <p:cNvSpPr>
            <a:spLocks xmlns:a="http://schemas.openxmlformats.org/drawingml/2006/main" noGrp="1"/>
          </p:cNvSpPr>
          <p:nvPr/>
        </p:nvSpPr>
        <p:spPr>
          <a:xfrm xmlns:a="http://schemas.openxmlformats.org/drawingml/2006/main">
            <a:off x="8153400" y="3162300"/>
            <a:ext cx="3390900" cy="28575"/>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AB0CA85-B261-4992-B137-6CD2495E216C}"/>
              </a:ext>
            </a:extLst>
          </p:cNvPr>
          <p:cNvSpPr>
            <a:spLocks xmlns:a="http://schemas.openxmlformats.org/drawingml/2006/main" noGrp="1"/>
          </p:cNvSpPr>
          <p:nvPr/>
        </p:nvSpPr>
        <p:spPr>
          <a:xfrm xmlns:a="http://schemas.openxmlformats.org/drawingml/2006/main">
            <a:off x="8153400" y="3390900"/>
            <a:ext cx="59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03</a:t>
            </a:r>
          </a:p>
        </p:txBody>
      </p:sp>
      <p:sp>
        <p:nvSpPr>
          <p:cNvPr id="18" name="">
            <a:extLst xmlns:a="http://schemas.openxmlformats.org/drawingml/2006/main">
              <a:ext uri="{FF2B5EF4-FFF2-40B4-BE49-F238E27FC236}">
                <a16:creationId xmlns:a16="http://schemas.microsoft.com/office/drawing/2014/main" id="{A6C19A84-8640-40F0-865C-839EAD94E7C4}"/>
              </a:ext>
            </a:extLst>
          </p:cNvPr>
          <p:cNvSpPr>
            <a:spLocks xmlns:a="http://schemas.openxmlformats.org/drawingml/2006/main" noGrp="1"/>
          </p:cNvSpPr>
          <p:nvPr/>
        </p:nvSpPr>
        <p:spPr>
          <a:xfrm xmlns:a="http://schemas.openxmlformats.org/drawingml/2006/main">
            <a:off x="8877300" y="344805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0F1113"/>
                </a:solidFill>
                <a:latin typeface="Bahnschrift"/>
                <a:ea typeface="Bahnschrift"/>
                <a:cs typeface="Bahnschrift"/>
              </a:defRPr>
            </a:pPr>
            <a:r>
              <a:rPr sz="1350" b="1" i="0">
                <a:solidFill>
                  <a:srgbClr val="0F1113"/>
                </a:solidFill>
                <a:latin typeface="Bahnschrift"/>
                <a:ea typeface="Bahnschrift"/>
                <a:cs typeface="Bahnschrift"/>
              </a:rPr>
              <a:t>ACTION</a:t>
            </a:r>
          </a:p>
        </p:txBody>
      </p:sp>
      <p:sp>
        <p:nvSpPr>
          <p:cNvPr id="19" name="">
            <a:extLst xmlns:a="http://schemas.openxmlformats.org/drawingml/2006/main">
              <a:ext uri="{FF2B5EF4-FFF2-40B4-BE49-F238E27FC236}">
                <a16:creationId xmlns:a16="http://schemas.microsoft.com/office/drawing/2014/main" id="{18D7DA64-6888-4280-BF31-F9A9F752674D}"/>
              </a:ext>
            </a:extLst>
          </p:cNvPr>
          <p:cNvSpPr>
            <a:spLocks xmlns:a="http://schemas.openxmlformats.org/drawingml/2006/main" noGrp="1"/>
          </p:cNvSpPr>
          <p:nvPr/>
        </p:nvSpPr>
        <p:spPr>
          <a:xfrm xmlns:a="http://schemas.openxmlformats.org/drawingml/2006/main">
            <a:off x="8153400" y="4095750"/>
            <a:ext cx="32575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i="0">
                <a:solidFill>
                  <a:srgbClr val="191C1F"/>
                </a:solidFill>
                <a:latin typeface="Arial"/>
                <a:ea typeface="Arial"/>
                <a:cs typeface="Arial"/>
              </a:defRPr>
            </a:pPr>
            <a:r>
              <a:rPr sz="1575" b="0" i="0">
                <a:solidFill>
                  <a:srgbClr val="191C1F"/>
                </a:solidFill>
                <a:latin typeface="Arial"/>
                <a:ea typeface="Arial"/>
                <a:cs typeface="Arial"/>
              </a:rPr>
              <a:t>Operators need one incident context for help, dispatch, resources and accountability.</a:t>
            </a:r>
          </a:p>
        </p:txBody>
      </p:sp>
      <p:sp>
        <p:nvSpPr>
          <p:cNvPr id="20" name="">
            <a:extLst xmlns:a="http://schemas.openxmlformats.org/drawingml/2006/main">
              <a:ext uri="{FF2B5EF4-FFF2-40B4-BE49-F238E27FC236}">
                <a16:creationId xmlns:a16="http://schemas.microsoft.com/office/drawing/2014/main" id="{D643867B-7512-4DB9-B234-714C8B40BE32}"/>
              </a:ext>
            </a:extLst>
          </p:cNvPr>
          <p:cNvSpPr>
            <a:spLocks xmlns:a="http://schemas.openxmlformats.org/drawingml/2006/main" noGrp="1"/>
          </p:cNvSpPr>
          <p:nvPr/>
        </p:nvSpPr>
        <p:spPr>
          <a:xfrm xmlns:a="http://schemas.openxmlformats.org/drawingml/2006/main">
            <a:off x="457200" y="607695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A52210"/>
                </a:solidFill>
                <a:latin typeface="Arial"/>
                <a:ea typeface="Arial"/>
                <a:cs typeface="Arial"/>
              </a:defRPr>
            </a:pPr>
            <a:r>
              <a:rPr sz="1350" b="1" i="0">
                <a:solidFill>
                  <a:srgbClr val="A52210"/>
                </a:solidFill>
                <a:latin typeface="Arial"/>
                <a:ea typeface="Arial"/>
                <a:cs typeface="Arial"/>
              </a:rPr>
              <a:t>NAVIRA closes the handoff from verified data to coordinated response.</a:t>
            </a:r>
          </a:p>
        </p:txBody>
      </p:sp>
    </p:spTree>
    <p:extLst>
      <p:ext uri="{BB962C8B-B14F-4D97-AF65-F5344CB8AC3E}">
        <p14:creationId xmlns:p14="http://schemas.microsoft.com/office/powerpoint/2010/main" val="761927761"/>
      </p:ext>
    </p:extLst>
  </p:cSld>
</p:sld>
</file>

<file path=ppt/slides/slide3.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E94E997-CD47-4488-AA56-1278AD86BD95}"/>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CDAFA73C-6339-48F2-9ABD-218106232346}"/>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03</a:t>
            </a:r>
          </a:p>
        </p:txBody>
      </p:sp>
      <p:sp>
        <p:nvSpPr>
          <p:cNvPr id="3" name="">
            <a:extLst xmlns:a="http://schemas.openxmlformats.org/drawingml/2006/main">
              <a:ext uri="{FF2B5EF4-FFF2-40B4-BE49-F238E27FC236}">
                <a16:creationId xmlns:a16="http://schemas.microsoft.com/office/drawing/2014/main" id="{DCF0C4F1-FEE3-4980-9450-8B4CD7E450FB}"/>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4B05CC-C544-4429-8933-522E03A63B5E}"/>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ONE CONNECTED PRODUCT STORY</a:t>
            </a:r>
          </a:p>
        </p:txBody>
      </p:sp>
      <p:sp>
        <p:nvSpPr>
          <p:cNvPr id="5" name="">
            <a:extLst xmlns:a="http://schemas.openxmlformats.org/drawingml/2006/main">
              <a:ext uri="{FF2B5EF4-FFF2-40B4-BE49-F238E27FC236}">
                <a16:creationId xmlns:a16="http://schemas.microsoft.com/office/drawing/2014/main" id="{7C5CFE88-52DE-487E-B370-E044A351C8AF}"/>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ED216E-0AD4-4437-8B2D-EEFC9D81DB9B}"/>
              </a:ext>
            </a:extLst>
          </p:cNvPr>
          <p:cNvSpPr>
            <a:spLocks xmlns:a="http://schemas.openxmlformats.org/drawingml/2006/main" noGrp="1"/>
          </p:cNvSpPr>
          <p:nvPr/>
        </p:nvSpPr>
        <p:spPr>
          <a:xfrm xmlns:a="http://schemas.openxmlformats.org/drawingml/2006/main">
            <a:off x="457200" y="1219200"/>
            <a:ext cx="933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i="0">
                <a:solidFill>
                  <a:srgbClr val="F1EEE9"/>
                </a:solidFill>
                <a:latin typeface="Bahnschrift"/>
                <a:ea typeface="Bahnschrift"/>
                <a:cs typeface="Bahnschrift"/>
              </a:defRPr>
            </a:pPr>
            <a:r>
              <a:rPr sz="3225" b="1" i="0">
                <a:solidFill>
                  <a:srgbClr val="F1EEE9"/>
                </a:solidFill>
                <a:latin typeface="Bahnschrift"/>
                <a:ea typeface="Bahnschrift"/>
                <a:cs typeface="Bahnschrift"/>
              </a:rPr>
              <a:t>UNDERSTAND → PROTECT → TEST</a:t>
            </a:r>
          </a:p>
        </p:txBody>
      </p:sp>
      <p:sp>
        <p:nvSpPr>
          <p:cNvPr id="7" name="">
            <a:extLst xmlns:a="http://schemas.openxmlformats.org/drawingml/2006/main">
              <a:ext uri="{FF2B5EF4-FFF2-40B4-BE49-F238E27FC236}">
                <a16:creationId xmlns:a16="http://schemas.microsoft.com/office/drawing/2014/main" id="{96EC3118-D005-4AC2-A67D-E178C0003FCB}"/>
              </a:ext>
            </a:extLst>
          </p:cNvPr>
          <p:cNvSpPr>
            <a:spLocks xmlns:a="http://schemas.openxmlformats.org/drawingml/2006/main" noGrp="1"/>
          </p:cNvSpPr>
          <p:nvPr/>
        </p:nvSpPr>
        <p:spPr>
          <a:xfrm xmlns:a="http://schemas.openxmlformats.org/drawingml/2006/main">
            <a:off x="457200" y="19621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AAB0B4"/>
                </a:solidFill>
                <a:latin typeface="Arial"/>
                <a:ea typeface="Arial"/>
                <a:cs typeface="Arial"/>
              </a:defRPr>
            </a:pPr>
            <a:r>
              <a:rPr sz="1575" b="0" i="0">
                <a:solidFill>
                  <a:srgbClr val="AAB0B4"/>
                </a:solidFill>
                <a:latin typeface="Arial"/>
                <a:ea typeface="Arial"/>
                <a:cs typeface="Arial"/>
              </a:rPr>
              <a:t>Disaster happens. NAVIRA detects it, finds people at risk, helps them act, and lets teams test infrastructure against the same hazard context.</a:t>
            </a:r>
          </a:p>
        </p:txBody>
      </p:sp>
      <p:sp>
        <p:nvSpPr>
          <p:cNvPr id="8" name="">
            <a:extLst xmlns:a="http://schemas.openxmlformats.org/drawingml/2006/main">
              <a:ext uri="{FF2B5EF4-FFF2-40B4-BE49-F238E27FC236}">
                <a16:creationId xmlns:a16="http://schemas.microsoft.com/office/drawing/2014/main" id="{5A41AAE2-CEB5-44F8-9041-CBE70ACE75E0}"/>
              </a:ext>
            </a:extLst>
          </p:cNvPr>
          <p:cNvSpPr>
            <a:spLocks xmlns:a="http://schemas.openxmlformats.org/drawingml/2006/main" noGrp="1"/>
          </p:cNvSpPr>
          <p:nvPr/>
        </p:nvSpPr>
        <p:spPr>
          <a:xfrm xmlns:a="http://schemas.openxmlformats.org/drawingml/2006/main">
            <a:off x="457200" y="3219450"/>
            <a:ext cx="3390900" cy="2514600"/>
          </a:xfrm>
          <a:prstGeom xmlns:a="http://schemas.openxmlformats.org/drawingml/2006/main" prst="rect">
            <a:avLst/>
          </a:prstGeom>
          <a:solidFill xmlns:a="http://schemas.openxmlformats.org/drawingml/2006/main">
            <a:srgbClr val="0F1113"/>
          </a:solidFill>
          <a:ln xmlns:a="http://schemas.openxmlformats.org/drawingml/2006/main" w="9525">
            <a:solidFill>
              <a:srgbClr val="34393D"/>
            </a:solidFill>
          </a:ln>
        </p:spPr>
      </p:sp>
      <p:sp>
        <p:nvSpPr>
          <p:cNvPr id="9" name="">
            <a:extLst xmlns:a="http://schemas.openxmlformats.org/drawingml/2006/main">
              <a:ext uri="{FF2B5EF4-FFF2-40B4-BE49-F238E27FC236}">
                <a16:creationId xmlns:a16="http://schemas.microsoft.com/office/drawing/2014/main" id="{544C0AD2-C49C-4F1F-B35A-BBCC8A13800D}"/>
              </a:ext>
            </a:extLst>
          </p:cNvPr>
          <p:cNvSpPr>
            <a:spLocks xmlns:a="http://schemas.openxmlformats.org/drawingml/2006/main" noGrp="1"/>
          </p:cNvSpPr>
          <p:nvPr/>
        </p:nvSpPr>
        <p:spPr>
          <a:xfrm xmlns:a="http://schemas.openxmlformats.org/drawingml/2006/main">
            <a:off x="6477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01</a:t>
            </a:r>
          </a:p>
        </p:txBody>
      </p:sp>
      <p:sp>
        <p:nvSpPr>
          <p:cNvPr id="10" name="">
            <a:extLst xmlns:a="http://schemas.openxmlformats.org/drawingml/2006/main">
              <a:ext uri="{FF2B5EF4-FFF2-40B4-BE49-F238E27FC236}">
                <a16:creationId xmlns:a16="http://schemas.microsoft.com/office/drawing/2014/main" id="{FD3B67BC-88C3-46A8-A9A1-66D50BEBF430}"/>
              </a:ext>
            </a:extLst>
          </p:cNvPr>
          <p:cNvSpPr>
            <a:spLocks xmlns:a="http://schemas.openxmlformats.org/drawingml/2006/main" noGrp="1"/>
          </p:cNvSpPr>
          <p:nvPr/>
        </p:nvSpPr>
        <p:spPr>
          <a:xfrm xmlns:a="http://schemas.openxmlformats.org/drawingml/2006/main">
            <a:off x="6477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UNDERSTAND</a:t>
            </a:r>
          </a:p>
        </p:txBody>
      </p:sp>
      <p:sp>
        <p:nvSpPr>
          <p:cNvPr id="11" name="">
            <a:extLst xmlns:a="http://schemas.openxmlformats.org/drawingml/2006/main">
              <a:ext uri="{FF2B5EF4-FFF2-40B4-BE49-F238E27FC236}">
                <a16:creationId xmlns:a16="http://schemas.microsoft.com/office/drawing/2014/main" id="{4AA4887D-1B03-4915-95C0-6390408623AC}"/>
              </a:ext>
            </a:extLst>
          </p:cNvPr>
          <p:cNvSpPr>
            <a:spLocks xmlns:a="http://schemas.openxmlformats.org/drawingml/2006/main" noGrp="1"/>
          </p:cNvSpPr>
          <p:nvPr/>
        </p:nvSpPr>
        <p:spPr>
          <a:xfrm xmlns:a="http://schemas.openxmlformats.org/drawingml/2006/main">
            <a:off x="6477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Real disaster intelligence</a:t>
            </a:r>
          </a:p>
        </p:txBody>
      </p:sp>
      <p:sp>
        <p:nvSpPr>
          <p:cNvPr id="12" name="">
            <a:extLst xmlns:a="http://schemas.openxmlformats.org/drawingml/2006/main">
              <a:ext uri="{FF2B5EF4-FFF2-40B4-BE49-F238E27FC236}">
                <a16:creationId xmlns:a16="http://schemas.microsoft.com/office/drawing/2014/main" id="{079F9868-F5E3-4ACC-8652-8587B28F230D}"/>
              </a:ext>
            </a:extLst>
          </p:cNvPr>
          <p:cNvSpPr>
            <a:spLocks xmlns:a="http://schemas.openxmlformats.org/drawingml/2006/main" noGrp="1"/>
          </p:cNvSpPr>
          <p:nvPr/>
        </p:nvSpPr>
        <p:spPr>
          <a:xfrm xmlns:a="http://schemas.openxmlformats.org/drawingml/2006/main">
            <a:off x="6477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NASA EONET · GDACS · USGS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Verified geometry · Freshness · Provenance</a:t>
            </a:r>
          </a:p>
        </p:txBody>
      </p:sp>
      <p:sp>
        <p:nvSpPr>
          <p:cNvPr id="13" name="">
            <a:extLst xmlns:a="http://schemas.openxmlformats.org/drawingml/2006/main">
              <a:ext uri="{FF2B5EF4-FFF2-40B4-BE49-F238E27FC236}">
                <a16:creationId xmlns:a16="http://schemas.microsoft.com/office/drawing/2014/main" id="{4C3D470E-5288-4962-BEF2-45AD65FD5463}"/>
              </a:ext>
            </a:extLst>
          </p:cNvPr>
          <p:cNvSpPr>
            <a:spLocks xmlns:a="http://schemas.openxmlformats.org/drawingml/2006/main" noGrp="1"/>
          </p:cNvSpPr>
          <p:nvPr/>
        </p:nvSpPr>
        <p:spPr>
          <a:xfrm xmlns:a="http://schemas.openxmlformats.org/drawingml/2006/main">
            <a:off x="3848100" y="4476750"/>
            <a:ext cx="342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9317972-55FF-48D8-8ED6-34540D63EB26}"/>
              </a:ext>
            </a:extLst>
          </p:cNvPr>
          <p:cNvSpPr>
            <a:spLocks xmlns:a="http://schemas.openxmlformats.org/drawingml/2006/main" noGrp="1"/>
          </p:cNvSpPr>
          <p:nvPr/>
        </p:nvSpPr>
        <p:spPr>
          <a:xfrm xmlns:a="http://schemas.openxmlformats.org/drawingml/2006/main">
            <a:off x="4171950" y="441960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BEA0D66-6694-41C0-AB5E-5C3681C5ABC9}"/>
              </a:ext>
            </a:extLst>
          </p:cNvPr>
          <p:cNvSpPr>
            <a:spLocks xmlns:a="http://schemas.openxmlformats.org/drawingml/2006/main" noGrp="1"/>
          </p:cNvSpPr>
          <p:nvPr/>
        </p:nvSpPr>
        <p:spPr>
          <a:xfrm xmlns:a="http://schemas.openxmlformats.org/drawingml/2006/main">
            <a:off x="4305300" y="3219450"/>
            <a:ext cx="3390900" cy="2514600"/>
          </a:xfrm>
          <a:prstGeom xmlns:a="http://schemas.openxmlformats.org/drawingml/2006/main" prst="rect">
            <a:avLst/>
          </a:prstGeom>
          <a:solidFill xmlns:a="http://schemas.openxmlformats.org/drawingml/2006/main">
            <a:srgbClr val="191C1F"/>
          </a:solidFill>
          <a:ln xmlns:a="http://schemas.openxmlformats.org/drawingml/2006/main" w="28575">
            <a:solidFill>
              <a:srgbClr val="FF3B1F"/>
            </a:solidFill>
          </a:ln>
        </p:spPr>
      </p:sp>
      <p:sp>
        <p:nvSpPr>
          <p:cNvPr id="16" name="">
            <a:extLst xmlns:a="http://schemas.openxmlformats.org/drawingml/2006/main">
              <a:ext uri="{FF2B5EF4-FFF2-40B4-BE49-F238E27FC236}">
                <a16:creationId xmlns:a16="http://schemas.microsoft.com/office/drawing/2014/main" id="{7ECF48A9-2BB3-40C8-8C95-15DED2DF0204}"/>
              </a:ext>
            </a:extLst>
          </p:cNvPr>
          <p:cNvSpPr>
            <a:spLocks xmlns:a="http://schemas.openxmlformats.org/drawingml/2006/main" noGrp="1"/>
          </p:cNvSpPr>
          <p:nvPr/>
        </p:nvSpPr>
        <p:spPr>
          <a:xfrm xmlns:a="http://schemas.openxmlformats.org/drawingml/2006/main">
            <a:off x="44958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02</a:t>
            </a:r>
          </a:p>
        </p:txBody>
      </p:sp>
      <p:sp>
        <p:nvSpPr>
          <p:cNvPr id="17" name="">
            <a:extLst xmlns:a="http://schemas.openxmlformats.org/drawingml/2006/main">
              <a:ext uri="{FF2B5EF4-FFF2-40B4-BE49-F238E27FC236}">
                <a16:creationId xmlns:a16="http://schemas.microsoft.com/office/drawing/2014/main" id="{F1E89EFC-64B0-4B8A-98C7-E8A603F15E5A}"/>
              </a:ext>
            </a:extLst>
          </p:cNvPr>
          <p:cNvSpPr>
            <a:spLocks xmlns:a="http://schemas.openxmlformats.org/drawingml/2006/main" noGrp="1"/>
          </p:cNvSpPr>
          <p:nvPr/>
        </p:nvSpPr>
        <p:spPr>
          <a:xfrm xmlns:a="http://schemas.openxmlformats.org/drawingml/2006/main">
            <a:off x="44958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PROTECT</a:t>
            </a:r>
          </a:p>
        </p:txBody>
      </p:sp>
      <p:sp>
        <p:nvSpPr>
          <p:cNvPr id="18" name="">
            <a:extLst xmlns:a="http://schemas.openxmlformats.org/drawingml/2006/main">
              <a:ext uri="{FF2B5EF4-FFF2-40B4-BE49-F238E27FC236}">
                <a16:creationId xmlns:a16="http://schemas.microsoft.com/office/drawing/2014/main" id="{13BE39B7-FD36-467F-B3E3-38527673A1A3}"/>
              </a:ext>
            </a:extLst>
          </p:cNvPr>
          <p:cNvSpPr>
            <a:spLocks xmlns:a="http://schemas.openxmlformats.org/drawingml/2006/main" noGrp="1"/>
          </p:cNvSpPr>
          <p:nvPr/>
        </p:nvSpPr>
        <p:spPr>
          <a:xfrm xmlns:a="http://schemas.openxmlformats.org/drawingml/2006/main">
            <a:off x="44958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Civilian and operator action</a:t>
            </a:r>
          </a:p>
        </p:txBody>
      </p:sp>
      <p:sp>
        <p:nvSpPr>
          <p:cNvPr id="19" name="">
            <a:extLst xmlns:a="http://schemas.openxmlformats.org/drawingml/2006/main">
              <a:ext uri="{FF2B5EF4-FFF2-40B4-BE49-F238E27FC236}">
                <a16:creationId xmlns:a16="http://schemas.microsoft.com/office/drawing/2014/main" id="{5E75111F-959D-483C-AE70-E8DBA5498F3D}"/>
              </a:ext>
            </a:extLst>
          </p:cNvPr>
          <p:cNvSpPr>
            <a:spLocks xmlns:a="http://schemas.openxmlformats.org/drawingml/2006/main" noGrp="1"/>
          </p:cNvSpPr>
          <p:nvPr/>
        </p:nvSpPr>
        <p:spPr>
          <a:xfrm xmlns:a="http://schemas.openxmlformats.org/drawingml/2006/main">
            <a:off x="44958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Near You · Help requests · Escape routes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Incidents · Dispatch · Resources · Audit</a:t>
            </a:r>
          </a:p>
        </p:txBody>
      </p:sp>
      <p:sp>
        <p:nvSpPr>
          <p:cNvPr id="20" name="">
            <a:extLst xmlns:a="http://schemas.openxmlformats.org/drawingml/2006/main">
              <a:ext uri="{FF2B5EF4-FFF2-40B4-BE49-F238E27FC236}">
                <a16:creationId xmlns:a16="http://schemas.microsoft.com/office/drawing/2014/main" id="{06B77B2C-05E8-4BD7-BEBC-8D469D01901B}"/>
              </a:ext>
            </a:extLst>
          </p:cNvPr>
          <p:cNvSpPr>
            <a:spLocks xmlns:a="http://schemas.openxmlformats.org/drawingml/2006/main" noGrp="1"/>
          </p:cNvSpPr>
          <p:nvPr/>
        </p:nvSpPr>
        <p:spPr>
          <a:xfrm xmlns:a="http://schemas.openxmlformats.org/drawingml/2006/main">
            <a:off x="7696200" y="4476750"/>
            <a:ext cx="3429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9675499-8B9E-48E9-9A42-D08EB3C22132}"/>
              </a:ext>
            </a:extLst>
          </p:cNvPr>
          <p:cNvSpPr>
            <a:spLocks xmlns:a="http://schemas.openxmlformats.org/drawingml/2006/main" noGrp="1"/>
          </p:cNvSpPr>
          <p:nvPr/>
        </p:nvSpPr>
        <p:spPr>
          <a:xfrm xmlns:a="http://schemas.openxmlformats.org/drawingml/2006/main">
            <a:off x="8020050" y="441960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0AD46A9-ECDB-4898-831B-D1F0CDC0F104}"/>
              </a:ext>
            </a:extLst>
          </p:cNvPr>
          <p:cNvSpPr>
            <a:spLocks xmlns:a="http://schemas.openxmlformats.org/drawingml/2006/main" noGrp="1"/>
          </p:cNvSpPr>
          <p:nvPr/>
        </p:nvSpPr>
        <p:spPr>
          <a:xfrm xmlns:a="http://schemas.openxmlformats.org/drawingml/2006/main">
            <a:off x="8153400" y="3219450"/>
            <a:ext cx="3390900" cy="2514600"/>
          </a:xfrm>
          <a:prstGeom xmlns:a="http://schemas.openxmlformats.org/drawingml/2006/main" prst="rect">
            <a:avLst/>
          </a:prstGeom>
          <a:solidFill xmlns:a="http://schemas.openxmlformats.org/drawingml/2006/main">
            <a:srgbClr val="0F1113"/>
          </a:solidFill>
          <a:ln xmlns:a="http://schemas.openxmlformats.org/drawingml/2006/main" w="9525">
            <a:solidFill>
              <a:srgbClr val="34393D"/>
            </a:solidFill>
          </a:ln>
        </p:spPr>
      </p:sp>
      <p:sp>
        <p:nvSpPr>
          <p:cNvPr id="23" name="">
            <a:extLst xmlns:a="http://schemas.openxmlformats.org/drawingml/2006/main">
              <a:ext uri="{FF2B5EF4-FFF2-40B4-BE49-F238E27FC236}">
                <a16:creationId xmlns:a16="http://schemas.microsoft.com/office/drawing/2014/main" id="{382094FD-9F0A-4D27-A011-0459B4D64E42}"/>
              </a:ext>
            </a:extLst>
          </p:cNvPr>
          <p:cNvSpPr>
            <a:spLocks xmlns:a="http://schemas.openxmlformats.org/drawingml/2006/main" noGrp="1"/>
          </p:cNvSpPr>
          <p:nvPr/>
        </p:nvSpPr>
        <p:spPr>
          <a:xfrm xmlns:a="http://schemas.openxmlformats.org/drawingml/2006/main">
            <a:off x="8343900" y="3390900"/>
            <a:ext cx="57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F3B1F"/>
                </a:solidFill>
                <a:latin typeface="Bahnschrift"/>
                <a:ea typeface="Bahnschrift"/>
                <a:cs typeface="Bahnschrift"/>
              </a:defRPr>
            </a:pPr>
            <a:r>
              <a:rPr sz="2550" b="1" i="0">
                <a:solidFill>
                  <a:srgbClr val="FF3B1F"/>
                </a:solidFill>
                <a:latin typeface="Bahnschrift"/>
                <a:ea typeface="Bahnschrift"/>
                <a:cs typeface="Bahnschrift"/>
              </a:rPr>
              <a:t>03</a:t>
            </a:r>
          </a:p>
        </p:txBody>
      </p:sp>
      <p:sp>
        <p:nvSpPr>
          <p:cNvPr id="24" name="">
            <a:extLst xmlns:a="http://schemas.openxmlformats.org/drawingml/2006/main">
              <a:ext uri="{FF2B5EF4-FFF2-40B4-BE49-F238E27FC236}">
                <a16:creationId xmlns:a16="http://schemas.microsoft.com/office/drawing/2014/main" id="{C4BDC0CF-7A78-495B-BC42-887DF4368BF8}"/>
              </a:ext>
            </a:extLst>
          </p:cNvPr>
          <p:cNvSpPr>
            <a:spLocks xmlns:a="http://schemas.openxmlformats.org/drawingml/2006/main" noGrp="1"/>
          </p:cNvSpPr>
          <p:nvPr/>
        </p:nvSpPr>
        <p:spPr>
          <a:xfrm xmlns:a="http://schemas.openxmlformats.org/drawingml/2006/main">
            <a:off x="8343900" y="400050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Bahnschrift"/>
                <a:ea typeface="Bahnschrift"/>
                <a:cs typeface="Bahnschrift"/>
              </a:defRPr>
            </a:pPr>
            <a:r>
              <a:rPr sz="1500" b="1" i="0">
                <a:solidFill>
                  <a:srgbClr val="F1EEE9"/>
                </a:solidFill>
                <a:latin typeface="Bahnschrift"/>
                <a:ea typeface="Bahnschrift"/>
                <a:cs typeface="Bahnschrift"/>
              </a:rPr>
              <a:t>TEST</a:t>
            </a:r>
          </a:p>
        </p:txBody>
      </p:sp>
      <p:sp>
        <p:nvSpPr>
          <p:cNvPr id="25" name="">
            <a:extLst xmlns:a="http://schemas.openxmlformats.org/drawingml/2006/main">
              <a:ext uri="{FF2B5EF4-FFF2-40B4-BE49-F238E27FC236}">
                <a16:creationId xmlns:a16="http://schemas.microsoft.com/office/drawing/2014/main" id="{71B9D19A-7E09-482B-B1E4-A36EB2A3E2F5}"/>
              </a:ext>
            </a:extLst>
          </p:cNvPr>
          <p:cNvSpPr>
            <a:spLocks xmlns:a="http://schemas.openxmlformats.org/drawingml/2006/main" noGrp="1"/>
          </p:cNvSpPr>
          <p:nvPr/>
        </p:nvSpPr>
        <p:spPr>
          <a:xfrm xmlns:a="http://schemas.openxmlformats.org/drawingml/2006/main">
            <a:off x="8343900" y="443865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1EEE9"/>
                </a:solidFill>
                <a:latin typeface="Arial"/>
                <a:ea typeface="Arial"/>
                <a:cs typeface="Arial"/>
              </a:defRPr>
            </a:pPr>
            <a:r>
              <a:rPr sz="1500" b="1" i="0">
                <a:solidFill>
                  <a:srgbClr val="F1EEE9"/>
                </a:solidFill>
                <a:latin typeface="Arial"/>
                <a:ea typeface="Arial"/>
                <a:cs typeface="Arial"/>
              </a:rPr>
              <a:t>Infrastructure resilience lab</a:t>
            </a:r>
          </a:p>
        </p:txBody>
      </p:sp>
      <p:sp>
        <p:nvSpPr>
          <p:cNvPr id="26" name="">
            <a:extLst xmlns:a="http://schemas.openxmlformats.org/drawingml/2006/main">
              <a:ext uri="{FF2B5EF4-FFF2-40B4-BE49-F238E27FC236}">
                <a16:creationId xmlns:a16="http://schemas.microsoft.com/office/drawing/2014/main" id="{10819355-FED5-4E1D-8BD2-99940B54C51D}"/>
              </a:ext>
            </a:extLst>
          </p:cNvPr>
          <p:cNvSpPr>
            <a:spLocks xmlns:a="http://schemas.openxmlformats.org/drawingml/2006/main" noGrp="1"/>
          </p:cNvSpPr>
          <p:nvPr/>
        </p:nvSpPr>
        <p:spPr>
          <a:xfrm xmlns:a="http://schemas.openxmlformats.org/drawingml/2006/main">
            <a:off x="8343900" y="50292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Real infrastructure · Custom models</a:t>
            </a:r>
          </a:p>
          <a:p xmlns:a="http://schemas.openxmlformats.org/drawingml/2006/main">
            <a:pPr algn="l">
              <a:lnSpc>
                <a:spcPct val="110000"/>
              </a:lnSpc>
              <a:buNone/>
              <a:defRPr sz="1125" b="0" i="0">
                <a:solidFill>
                  <a:srgbClr val="68737A"/>
                </a:solidFill>
                <a:latin typeface="Arial"/>
                <a:ea typeface="Arial"/>
                <a:cs typeface="Arial"/>
              </a:defRPr>
            </a:pPr>
            <a:r>
              <a:rPr sz="1125" b="0" i="0">
                <a:solidFill>
                  <a:srgbClr val="68737A"/>
                </a:solidFill>
                <a:latin typeface="Arial"/>
                <a:ea typeface="Arial"/>
                <a:cs typeface="Arial"/>
              </a:rPr>
              <a:t>Hazard scenarios · Side-by-side comparison</a:t>
            </a:r>
          </a:p>
        </p:txBody>
      </p:sp>
    </p:spTree>
    <p:extLst>
      <p:ext uri="{BB962C8B-B14F-4D97-AF65-F5344CB8AC3E}">
        <p14:creationId xmlns:p14="http://schemas.microsoft.com/office/powerpoint/2010/main" val="192915909"/>
      </p:ext>
    </p:extLst>
  </p:cSld>
</p:sld>
</file>

<file path=ppt/slides/slide4.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958A11-7093-4849-BEA5-464B70FECEAA}"/>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0EF19720-B3D1-4B23-AA57-08C838AC4D1C}"/>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04</a:t>
            </a:r>
          </a:p>
        </p:txBody>
      </p:sp>
      <p:sp>
        <p:nvSpPr>
          <p:cNvPr id="3" name="">
            <a:extLst xmlns:a="http://schemas.openxmlformats.org/drawingml/2006/main">
              <a:ext uri="{FF2B5EF4-FFF2-40B4-BE49-F238E27FC236}">
                <a16:creationId xmlns:a16="http://schemas.microsoft.com/office/drawing/2014/main" id="{4C840F66-82AC-4E6A-90D3-A5D6B3DBB328}"/>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C74B68-0105-4BFC-AA08-891FD3AF79E9}"/>
              </a:ext>
            </a:extLst>
          </p:cNvPr>
          <p:cNvSpPr>
            <a:spLocks xmlns:a="http://schemas.openxmlformats.org/drawingml/2006/main" noGrp="1"/>
          </p:cNvSpPr>
          <p:nvPr/>
        </p:nvSpPr>
        <p:spPr>
          <a:xfrm xmlns:a="http://schemas.openxmlformats.org/drawingml/2006/main">
            <a:off x="438150" y="914400"/>
            <a:ext cx="7715250" cy="503872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fbc87b2b4684bde"/>
          <a:srcRect xmlns:a="http://schemas.openxmlformats.org/drawingml/2006/main" l="6821" t="0" r="6821" b="0"/>
          <a:stretch xmlns:a="http://schemas.openxmlformats.org/drawingml/2006/main">
            <a:fillRect l="0" t="0" r="0" b="0"/>
          </a:stretch>
        </p:blipFill>
        <p:spPr>
          <a:xfrm xmlns:a="http://schemas.openxmlformats.org/drawingml/2006/main">
            <a:off x="457200" y="933450"/>
            <a:ext cx="7677150" cy="5000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393C70-7A3A-47D6-9418-FDEC18EED545}"/>
              </a:ext>
            </a:extLst>
          </p:cNvPr>
          <p:cNvSpPr>
            <a:spLocks xmlns:a="http://schemas.openxmlformats.org/drawingml/2006/main" noGrp="1"/>
          </p:cNvSpPr>
          <p:nvPr/>
        </p:nvSpPr>
        <p:spPr>
          <a:xfrm xmlns:a="http://schemas.openxmlformats.org/drawingml/2006/main">
            <a:off x="8515350" y="10287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UNDERSTAND / 01</a:t>
            </a:r>
          </a:p>
        </p:txBody>
      </p:sp>
      <p:sp>
        <p:nvSpPr>
          <p:cNvPr id="7" name="">
            <a:extLst xmlns:a="http://schemas.openxmlformats.org/drawingml/2006/main">
              <a:ext uri="{FF2B5EF4-FFF2-40B4-BE49-F238E27FC236}">
                <a16:creationId xmlns:a16="http://schemas.microsoft.com/office/drawing/2014/main" id="{3C649B96-918A-4308-963C-9AFB7EC5198F}"/>
              </a:ext>
            </a:extLst>
          </p:cNvPr>
          <p:cNvSpPr>
            <a:spLocks xmlns:a="http://schemas.openxmlformats.org/drawingml/2006/main" noGrp="1"/>
          </p:cNvSpPr>
          <p:nvPr/>
        </p:nvSpPr>
        <p:spPr>
          <a:xfrm xmlns:a="http://schemas.openxmlformats.org/drawingml/2006/main">
            <a:off x="8515350" y="12763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134B272-07E5-4CB8-B761-BE9A5A1B0105}"/>
              </a:ext>
            </a:extLst>
          </p:cNvPr>
          <p:cNvSpPr>
            <a:spLocks xmlns:a="http://schemas.openxmlformats.org/drawingml/2006/main" noGrp="1"/>
          </p:cNvSpPr>
          <p:nvPr/>
        </p:nvSpPr>
        <p:spPr>
          <a:xfrm xmlns:a="http://schemas.openxmlformats.org/drawingml/2006/main">
            <a:off x="8515350" y="1466850"/>
            <a:ext cx="314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173"/>
          </a:bodyPr>
          <a:lstStyle xmlns:a="http://schemas.openxmlformats.org/drawingml/2006/main"/>
          <a:p xmlns:a="http://schemas.openxmlformats.org/drawingml/2006/main">
            <a:pPr algn="l">
              <a:lnSpc>
                <a:spcPct val="96000"/>
              </a:lnSpc>
              <a:buNone/>
              <a:defRPr sz="2400" b="1" i="0">
                <a:solidFill>
                  <a:srgbClr val="F1EEE9"/>
                </a:solidFill>
                <a:latin typeface="Bahnschrift"/>
                <a:ea typeface="Bahnschrift"/>
                <a:cs typeface="Bahnschrift"/>
              </a:defRPr>
            </a:pPr>
            <a:r>
              <a:rPr sz="2400" b="1" i="0">
                <a:solidFill>
                  <a:srgbClr val="F1EEE9"/>
                </a:solidFill>
                <a:latin typeface="Bahnschrift"/>
                <a:ea typeface="Bahnschrift"/>
                <a:cs typeface="Bahnschrift"/>
              </a:rPr>
              <a:t>A live operating picture,</a:t>
            </a:r>
          </a:p>
          <a:p xmlns:a="http://schemas.openxmlformats.org/drawingml/2006/main">
            <a:pPr algn="l">
              <a:lnSpc>
                <a:spcPct val="96000"/>
              </a:lnSpc>
              <a:buNone/>
              <a:defRPr sz="2400" b="1" i="0">
                <a:solidFill>
                  <a:srgbClr val="F1EEE9"/>
                </a:solidFill>
                <a:latin typeface="Bahnschrift"/>
                <a:ea typeface="Bahnschrift"/>
                <a:cs typeface="Bahnschrift"/>
              </a:defRPr>
            </a:pPr>
            <a:r>
              <a:rPr sz="2400" b="1" i="0">
                <a:solidFill>
                  <a:srgbClr val="F1EEE9"/>
                </a:solidFill>
                <a:latin typeface="Bahnschrift"/>
                <a:ea typeface="Bahnschrift"/>
                <a:cs typeface="Bahnschrift"/>
              </a:rPr>
              <a:t>not a decorative map.</a:t>
            </a:r>
          </a:p>
        </p:txBody>
      </p:sp>
      <p:sp>
        <p:nvSpPr>
          <p:cNvPr id="9" name="">
            <a:extLst xmlns:a="http://schemas.openxmlformats.org/drawingml/2006/main">
              <a:ext uri="{FF2B5EF4-FFF2-40B4-BE49-F238E27FC236}">
                <a16:creationId xmlns:a16="http://schemas.microsoft.com/office/drawing/2014/main" id="{1490017D-8FEB-46E3-B4EC-75F296301965}"/>
              </a:ext>
            </a:extLst>
          </p:cNvPr>
          <p:cNvSpPr>
            <a:spLocks xmlns:a="http://schemas.openxmlformats.org/drawingml/2006/main" noGrp="1"/>
          </p:cNvSpPr>
          <p:nvPr/>
        </p:nvSpPr>
        <p:spPr>
          <a:xfrm xmlns:a="http://schemas.openxmlformats.org/drawingml/2006/main">
            <a:off x="8534400" y="2857500"/>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89125D-AA27-42BA-A208-5498B71B9464}"/>
              </a:ext>
            </a:extLst>
          </p:cNvPr>
          <p:cNvSpPr>
            <a:spLocks xmlns:a="http://schemas.openxmlformats.org/drawingml/2006/main" noGrp="1"/>
          </p:cNvSpPr>
          <p:nvPr/>
        </p:nvSpPr>
        <p:spPr>
          <a:xfrm xmlns:a="http://schemas.openxmlformats.org/drawingml/2006/main">
            <a:off x="8753475" y="27813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MapLibre + OpenStreetMap-based geography</a:t>
            </a:r>
          </a:p>
        </p:txBody>
      </p:sp>
      <p:sp>
        <p:nvSpPr>
          <p:cNvPr id="11" name="">
            <a:extLst xmlns:a="http://schemas.openxmlformats.org/drawingml/2006/main">
              <a:ext uri="{FF2B5EF4-FFF2-40B4-BE49-F238E27FC236}">
                <a16:creationId xmlns:a16="http://schemas.microsoft.com/office/drawing/2014/main" id="{B6F29F96-2C7A-4C45-A7FB-CBC6F19A6E60}"/>
              </a:ext>
            </a:extLst>
          </p:cNvPr>
          <p:cNvSpPr>
            <a:spLocks xmlns:a="http://schemas.openxmlformats.org/drawingml/2006/main" noGrp="1"/>
          </p:cNvSpPr>
          <p:nvPr/>
        </p:nvSpPr>
        <p:spPr>
          <a:xfrm xmlns:a="http://schemas.openxmlformats.org/drawingml/2006/main">
            <a:off x="8534400" y="3381375"/>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8F4027-A01C-4C87-93DA-E1AD1AF71D06}"/>
              </a:ext>
            </a:extLst>
          </p:cNvPr>
          <p:cNvSpPr>
            <a:spLocks xmlns:a="http://schemas.openxmlformats.org/drawingml/2006/main" noGrp="1"/>
          </p:cNvSpPr>
          <p:nvPr/>
        </p:nvSpPr>
        <p:spPr>
          <a:xfrm xmlns:a="http://schemas.openxmlformats.org/drawingml/2006/main">
            <a:off x="8753475" y="33051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NASA EONET, GDACS and USGS event feeds</a:t>
            </a:r>
          </a:p>
        </p:txBody>
      </p:sp>
      <p:sp>
        <p:nvSpPr>
          <p:cNvPr id="13" name="">
            <a:extLst xmlns:a="http://schemas.openxmlformats.org/drawingml/2006/main">
              <a:ext uri="{FF2B5EF4-FFF2-40B4-BE49-F238E27FC236}">
                <a16:creationId xmlns:a16="http://schemas.microsoft.com/office/drawing/2014/main" id="{BE91B90F-FB8B-4928-A9F5-11BA7E3D5589}"/>
              </a:ext>
            </a:extLst>
          </p:cNvPr>
          <p:cNvSpPr>
            <a:spLocks xmlns:a="http://schemas.openxmlformats.org/drawingml/2006/main" noGrp="1"/>
          </p:cNvSpPr>
          <p:nvPr/>
        </p:nvSpPr>
        <p:spPr>
          <a:xfrm xmlns:a="http://schemas.openxmlformats.org/drawingml/2006/main">
            <a:off x="8534400" y="3905250"/>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468D9E-63BF-4F7A-AC7E-4ECC710163BC}"/>
              </a:ext>
            </a:extLst>
          </p:cNvPr>
          <p:cNvSpPr>
            <a:spLocks xmlns:a="http://schemas.openxmlformats.org/drawingml/2006/main" noGrp="1"/>
          </p:cNvSpPr>
          <p:nvPr/>
        </p:nvSpPr>
        <p:spPr>
          <a:xfrm xmlns:a="http://schemas.openxmlformats.org/drawingml/2006/main">
            <a:off x="8753475" y="3829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Coordinates, source, status and timestamps</a:t>
            </a:r>
          </a:p>
        </p:txBody>
      </p:sp>
      <p:sp>
        <p:nvSpPr>
          <p:cNvPr id="15" name="">
            <a:extLst xmlns:a="http://schemas.openxmlformats.org/drawingml/2006/main">
              <a:ext uri="{FF2B5EF4-FFF2-40B4-BE49-F238E27FC236}">
                <a16:creationId xmlns:a16="http://schemas.microsoft.com/office/drawing/2014/main" id="{5D264650-CAEC-4659-A86B-21812392D935}"/>
              </a:ext>
            </a:extLst>
          </p:cNvPr>
          <p:cNvSpPr>
            <a:spLocks xmlns:a="http://schemas.openxmlformats.org/drawingml/2006/main" noGrp="1"/>
          </p:cNvSpPr>
          <p:nvPr/>
        </p:nvSpPr>
        <p:spPr>
          <a:xfrm xmlns:a="http://schemas.openxmlformats.org/drawingml/2006/main">
            <a:off x="8534400" y="4429125"/>
            <a:ext cx="85725" cy="85725"/>
          </a:xfrm>
          <a:prstGeom xmlns:a="http://schemas.openxmlformats.org/drawingml/2006/main" prst="ellipse">
            <a:avLst/>
          </a:prstGeom>
          <a:solidFill xmlns:a="http://schemas.openxmlformats.org/drawingml/2006/main">
            <a:srgbClr val="FF3B1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722A65-0651-497F-A714-0BF945767F8F}"/>
              </a:ext>
            </a:extLst>
          </p:cNvPr>
          <p:cNvSpPr>
            <a:spLocks xmlns:a="http://schemas.openxmlformats.org/drawingml/2006/main" noGrp="1"/>
          </p:cNvSpPr>
          <p:nvPr/>
        </p:nvSpPr>
        <p:spPr>
          <a:xfrm xmlns:a="http://schemas.openxmlformats.org/drawingml/2006/main">
            <a:off x="8753475" y="43529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Source-native geometry where available</a:t>
            </a:r>
          </a:p>
        </p:txBody>
      </p:sp>
      <p:sp>
        <p:nvSpPr>
          <p:cNvPr id="17" name="">
            <a:extLst xmlns:a="http://schemas.openxmlformats.org/drawingml/2006/main">
              <a:ext uri="{FF2B5EF4-FFF2-40B4-BE49-F238E27FC236}">
                <a16:creationId xmlns:a16="http://schemas.microsoft.com/office/drawing/2014/main" id="{FCBC6B8A-693B-422C-9AD2-B1AE7E82A281}"/>
              </a:ext>
            </a:extLst>
          </p:cNvPr>
          <p:cNvSpPr>
            <a:spLocks xmlns:a="http://schemas.openxmlformats.org/drawingml/2006/main" noGrp="1"/>
          </p:cNvSpPr>
          <p:nvPr/>
        </p:nvSpPr>
        <p:spPr>
          <a:xfrm xmlns:a="http://schemas.openxmlformats.org/drawingml/2006/main">
            <a:off x="8534400" y="4953000"/>
            <a:ext cx="85725" cy="85725"/>
          </a:xfrm>
          <a:prstGeom xmlns:a="http://schemas.openxmlformats.org/drawingml/2006/main" prst="ellipse">
            <a:avLst/>
          </a:prstGeom>
          <a:solidFill xmlns:a="http://schemas.openxmlformats.org/drawingml/2006/main">
            <a:srgbClr val="F4B80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C8C981A-88C0-464B-9E3F-B4BC4556366B}"/>
              </a:ext>
            </a:extLst>
          </p:cNvPr>
          <p:cNvSpPr>
            <a:spLocks xmlns:a="http://schemas.openxmlformats.org/drawingml/2006/main" noGrp="1"/>
          </p:cNvSpPr>
          <p:nvPr/>
        </p:nvSpPr>
        <p:spPr>
          <a:xfrm xmlns:a="http://schemas.openxmlformats.org/drawingml/2006/main">
            <a:off x="8753475" y="48768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1275" b="0" i="0">
                <a:solidFill>
                  <a:srgbClr val="F1EEE9"/>
                </a:solidFill>
                <a:latin typeface="Arial"/>
                <a:ea typeface="Arial"/>
                <a:cs typeface="Arial"/>
              </a:defRPr>
            </a:pPr>
            <a:r>
              <a:rPr sz="1275" b="0" i="0">
                <a:solidFill>
                  <a:srgbClr val="F1EEE9"/>
                </a:solidFill>
                <a:latin typeface="Arial"/>
                <a:ea typeface="Arial"/>
                <a:cs typeface="Arial"/>
              </a:rPr>
              <a:t>Explicit unavailable and degraded states</a:t>
            </a:r>
          </a:p>
        </p:txBody>
      </p:sp>
      <p:sp>
        <p:nvSpPr>
          <p:cNvPr id="19" name="">
            <a:extLst xmlns:a="http://schemas.openxmlformats.org/drawingml/2006/main">
              <a:ext uri="{FF2B5EF4-FFF2-40B4-BE49-F238E27FC236}">
                <a16:creationId xmlns:a16="http://schemas.microsoft.com/office/drawing/2014/main" id="{052DFCF6-1B93-43AA-8DEE-3502DC097908}"/>
              </a:ext>
            </a:extLst>
          </p:cNvPr>
          <p:cNvSpPr>
            <a:spLocks xmlns:a="http://schemas.openxmlformats.org/drawingml/2006/main" noGrp="1"/>
          </p:cNvSpPr>
          <p:nvPr/>
        </p:nvSpPr>
        <p:spPr>
          <a:xfrm xmlns:a="http://schemas.openxmlformats.org/drawingml/2006/main">
            <a:off x="8515350" y="56673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Arial"/>
                <a:ea typeface="Arial"/>
                <a:cs typeface="Arial"/>
              </a:defRPr>
            </a:pPr>
            <a:r>
              <a:rPr sz="1125" b="1" i="0">
                <a:solidFill>
                  <a:srgbClr val="FF3B1F"/>
                </a:solidFill>
                <a:latin typeface="Arial"/>
                <a:ea typeface="Arial"/>
                <a:cs typeface="Arial"/>
              </a:rPr>
              <a:t>Every layer carries source attribution and freshness.</a:t>
            </a:r>
          </a:p>
        </p:txBody>
      </p:sp>
    </p:spTree>
    <p:extLst>
      <p:ext uri="{BB962C8B-B14F-4D97-AF65-F5344CB8AC3E}">
        <p14:creationId xmlns:p14="http://schemas.microsoft.com/office/powerpoint/2010/main" val="88423750"/>
      </p:ext>
    </p:extLst>
  </p:cSld>
</p:sld>
</file>

<file path=ppt/slides/slide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74663F5-7314-4F8A-80F1-0CE70F099176}"/>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4DB64F39-770A-4007-BAF5-1F1D808607C2}"/>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05</a:t>
            </a:r>
          </a:p>
        </p:txBody>
      </p:sp>
      <p:sp>
        <p:nvSpPr>
          <p:cNvPr id="3" name="">
            <a:extLst xmlns:a="http://schemas.openxmlformats.org/drawingml/2006/main">
              <a:ext uri="{FF2B5EF4-FFF2-40B4-BE49-F238E27FC236}">
                <a16:creationId xmlns:a16="http://schemas.microsoft.com/office/drawing/2014/main" id="{5499CE05-C019-41B3-B4E7-212108BB1D9A}"/>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C26AAC-87A3-4ACD-84BB-DBDDCCFBD029}"/>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NEAR YOU</a:t>
            </a:r>
          </a:p>
        </p:txBody>
      </p:sp>
      <p:sp>
        <p:nvSpPr>
          <p:cNvPr id="5" name="">
            <a:extLst xmlns:a="http://schemas.openxmlformats.org/drawingml/2006/main">
              <a:ext uri="{FF2B5EF4-FFF2-40B4-BE49-F238E27FC236}">
                <a16:creationId xmlns:a16="http://schemas.microsoft.com/office/drawing/2014/main" id="{961599B1-DC9C-4D77-94AF-F43946EC9F92}"/>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988403-38B4-42E9-BD1F-60906FEBEF69}"/>
              </a:ext>
            </a:extLst>
          </p:cNvPr>
          <p:cNvSpPr>
            <a:spLocks xmlns:a="http://schemas.openxmlformats.org/drawingml/2006/main" noGrp="1"/>
          </p:cNvSpPr>
          <p:nvPr/>
        </p:nvSpPr>
        <p:spPr>
          <a:xfrm xmlns:a="http://schemas.openxmlformats.org/drawingml/2006/main">
            <a:off x="457200" y="1238250"/>
            <a:ext cx="4191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43"/>
          </a:bodyPr>
          <a:lstStyle xmlns:a="http://schemas.openxmlformats.org/drawingml/2006/main"/>
          <a:p xmlns:a="http://schemas.openxmlformats.org/drawingml/2006/main">
            <a:pPr algn="l">
              <a:lnSpc>
                <a:spcPct val="93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THE GLOBAL MAP BECOMES</a:t>
            </a:r>
          </a:p>
          <a:p xmlns:a="http://schemas.openxmlformats.org/drawingml/2006/main">
            <a:pPr algn="l">
              <a:lnSpc>
                <a:spcPct val="93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A LOCAL SAFETY DECISION.</a:t>
            </a:r>
          </a:p>
        </p:txBody>
      </p:sp>
      <p:sp>
        <p:nvSpPr>
          <p:cNvPr id="7" name="">
            <a:extLst xmlns:a="http://schemas.openxmlformats.org/drawingml/2006/main">
              <a:ext uri="{FF2B5EF4-FFF2-40B4-BE49-F238E27FC236}">
                <a16:creationId xmlns:a16="http://schemas.microsoft.com/office/drawing/2014/main" id="{98842DC3-4824-4ABA-8241-B9BF4AF94A98}"/>
              </a:ext>
            </a:extLst>
          </p:cNvPr>
          <p:cNvSpPr>
            <a:spLocks xmlns:a="http://schemas.openxmlformats.org/drawingml/2006/main" noGrp="1"/>
          </p:cNvSpPr>
          <p:nvPr/>
        </p:nvSpPr>
        <p:spPr>
          <a:xfrm xmlns:a="http://schemas.openxmlformats.org/drawingml/2006/main">
            <a:off x="457200" y="2571750"/>
            <a:ext cx="4000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i="0">
                <a:solidFill>
                  <a:srgbClr val="191C1F"/>
                </a:solidFill>
                <a:latin typeface="Arial"/>
                <a:ea typeface="Arial"/>
                <a:cs typeface="Arial"/>
              </a:defRPr>
            </a:pPr>
            <a:r>
              <a:rPr sz="1650" b="0" i="0">
                <a:solidFill>
                  <a:srgbClr val="191C1F"/>
                </a:solidFill>
                <a:latin typeface="Arial"/>
                <a:ea typeface="Arial"/>
                <a:cs typeface="Arial"/>
              </a:rPr>
              <a:t>With permission, NAVIRA centers on the person—not on a random event—and ranks reviewed hazards by real distance.</a:t>
            </a:r>
          </a:p>
        </p:txBody>
      </p:sp>
      <p:sp>
        <p:nvSpPr>
          <p:cNvPr id="8" name="">
            <a:extLst xmlns:a="http://schemas.openxmlformats.org/drawingml/2006/main">
              <a:ext uri="{FF2B5EF4-FFF2-40B4-BE49-F238E27FC236}">
                <a16:creationId xmlns:a16="http://schemas.microsoft.com/office/drawing/2014/main" id="{FBFAE8C9-75AC-4ED8-9D37-463491228610}"/>
              </a:ext>
            </a:extLst>
          </p:cNvPr>
          <p:cNvSpPr>
            <a:spLocks xmlns:a="http://schemas.openxmlformats.org/drawingml/2006/main" noGrp="1"/>
          </p:cNvSpPr>
          <p:nvPr/>
        </p:nvSpPr>
        <p:spPr>
          <a:xfrm xmlns:a="http://schemas.openxmlformats.org/drawingml/2006/main">
            <a:off x="457200" y="400050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7E0D18BC-7AA2-4453-97C7-FB1AEB3F9502}"/>
              </a:ext>
            </a:extLst>
          </p:cNvPr>
          <p:cNvSpPr>
            <a:spLocks xmlns:a="http://schemas.openxmlformats.org/drawingml/2006/main" noGrp="1"/>
          </p:cNvSpPr>
          <p:nvPr/>
        </p:nvSpPr>
        <p:spPr>
          <a:xfrm xmlns:a="http://schemas.openxmlformats.org/drawingml/2006/main">
            <a:off x="971550" y="39909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Browser geolocation with explicit permission</a:t>
            </a:r>
          </a:p>
        </p:txBody>
      </p:sp>
      <p:sp>
        <p:nvSpPr>
          <p:cNvPr id="10" name="">
            <a:extLst xmlns:a="http://schemas.openxmlformats.org/drawingml/2006/main">
              <a:ext uri="{FF2B5EF4-FFF2-40B4-BE49-F238E27FC236}">
                <a16:creationId xmlns:a16="http://schemas.microsoft.com/office/drawing/2014/main" id="{286CF5E6-803F-4A4C-BCD4-D786E7BF6298}"/>
              </a:ext>
            </a:extLst>
          </p:cNvPr>
          <p:cNvSpPr>
            <a:spLocks xmlns:a="http://schemas.openxmlformats.org/drawingml/2006/main" noGrp="1"/>
          </p:cNvSpPr>
          <p:nvPr/>
        </p:nvSpPr>
        <p:spPr>
          <a:xfrm xmlns:a="http://schemas.openxmlformats.org/drawingml/2006/main">
            <a:off x="457200" y="448627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3DBAE7A4-1060-4091-9033-CC7EA29628C2}"/>
              </a:ext>
            </a:extLst>
          </p:cNvPr>
          <p:cNvSpPr>
            <a:spLocks xmlns:a="http://schemas.openxmlformats.org/drawingml/2006/main" noGrp="1"/>
          </p:cNvSpPr>
          <p:nvPr/>
        </p:nvSpPr>
        <p:spPr>
          <a:xfrm xmlns:a="http://schemas.openxmlformats.org/drawingml/2006/main">
            <a:off x="971550" y="44767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Distance from the person to verified events</a:t>
            </a:r>
          </a:p>
        </p:txBody>
      </p:sp>
      <p:sp>
        <p:nvSpPr>
          <p:cNvPr id="12" name="">
            <a:extLst xmlns:a="http://schemas.openxmlformats.org/drawingml/2006/main">
              <a:ext uri="{FF2B5EF4-FFF2-40B4-BE49-F238E27FC236}">
                <a16:creationId xmlns:a16="http://schemas.microsoft.com/office/drawing/2014/main" id="{5B1D275F-3BD5-44BF-9D5C-266142D7A0F4}"/>
              </a:ext>
            </a:extLst>
          </p:cNvPr>
          <p:cNvSpPr>
            <a:spLocks xmlns:a="http://schemas.openxmlformats.org/drawingml/2006/main" noGrp="1"/>
          </p:cNvSpPr>
          <p:nvPr/>
        </p:nvSpPr>
        <p:spPr>
          <a:xfrm xmlns:a="http://schemas.openxmlformats.org/drawingml/2006/main">
            <a:off x="457200" y="49720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03</a:t>
            </a:r>
          </a:p>
        </p:txBody>
      </p:sp>
      <p:sp>
        <p:nvSpPr>
          <p:cNvPr id="13" name="">
            <a:extLst xmlns:a="http://schemas.openxmlformats.org/drawingml/2006/main">
              <a:ext uri="{FF2B5EF4-FFF2-40B4-BE49-F238E27FC236}">
                <a16:creationId xmlns:a16="http://schemas.microsoft.com/office/drawing/2014/main" id="{0E5514A9-FF60-4A79-B07A-AE5C2000F8F1}"/>
              </a:ext>
            </a:extLst>
          </p:cNvPr>
          <p:cNvSpPr>
            <a:spLocks xmlns:a="http://schemas.openxmlformats.org/drawingml/2006/main" noGrp="1"/>
          </p:cNvSpPr>
          <p:nvPr/>
        </p:nvSpPr>
        <p:spPr>
          <a:xfrm xmlns:a="http://schemas.openxmlformats.org/drawingml/2006/main">
            <a:off x="971550" y="49625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Deterministic point-versus-geometry checks</a:t>
            </a:r>
          </a:p>
        </p:txBody>
      </p:sp>
      <p:sp>
        <p:nvSpPr>
          <p:cNvPr id="14" name="">
            <a:extLst xmlns:a="http://schemas.openxmlformats.org/drawingml/2006/main">
              <a:ext uri="{FF2B5EF4-FFF2-40B4-BE49-F238E27FC236}">
                <a16:creationId xmlns:a16="http://schemas.microsoft.com/office/drawing/2014/main" id="{3E854974-D149-4FA5-A7B6-BC0988E4E7DD}"/>
              </a:ext>
            </a:extLst>
          </p:cNvPr>
          <p:cNvSpPr>
            <a:spLocks xmlns:a="http://schemas.openxmlformats.org/drawingml/2006/main" noGrp="1"/>
          </p:cNvSpPr>
          <p:nvPr/>
        </p:nvSpPr>
        <p:spPr>
          <a:xfrm xmlns:a="http://schemas.openxmlformats.org/drawingml/2006/main">
            <a:off x="457200" y="5457825"/>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i="0">
                <a:solidFill>
                  <a:srgbClr val="FF3B1F"/>
                </a:solidFill>
                <a:latin typeface="Bahnschrift"/>
                <a:ea typeface="Bahnschrift"/>
                <a:cs typeface="Bahnschrift"/>
              </a:defRPr>
            </a:pPr>
            <a:r>
              <a:rPr sz="1200" b="1" i="0">
                <a:solidFill>
                  <a:srgbClr val="FF3B1F"/>
                </a:solidFill>
                <a:latin typeface="Bahnschrift"/>
                <a:ea typeface="Bahnschrift"/>
                <a:cs typeface="Bahnschrift"/>
              </a:rPr>
              <a:t>04</a:t>
            </a:r>
          </a:p>
        </p:txBody>
      </p:sp>
      <p:sp>
        <p:nvSpPr>
          <p:cNvPr id="15" name="">
            <a:extLst xmlns:a="http://schemas.openxmlformats.org/drawingml/2006/main">
              <a:ext uri="{FF2B5EF4-FFF2-40B4-BE49-F238E27FC236}">
                <a16:creationId xmlns:a16="http://schemas.microsoft.com/office/drawing/2014/main" id="{4A2FF438-1764-4CA4-9286-86AAC0AAA1D2}"/>
              </a:ext>
            </a:extLst>
          </p:cNvPr>
          <p:cNvSpPr>
            <a:spLocks xmlns:a="http://schemas.openxmlformats.org/drawingml/2006/main" noGrp="1"/>
          </p:cNvSpPr>
          <p:nvPr/>
        </p:nvSpPr>
        <p:spPr>
          <a:xfrm xmlns:a="http://schemas.openxmlformats.org/drawingml/2006/main">
            <a:off x="971550" y="54483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0F1113"/>
                </a:solidFill>
                <a:latin typeface="Arial"/>
                <a:ea typeface="Arial"/>
                <a:cs typeface="Arial"/>
              </a:defRPr>
            </a:pPr>
            <a:r>
              <a:rPr sz="1275" b="0" i="0">
                <a:solidFill>
                  <a:srgbClr val="0F1113"/>
                </a:solidFill>
                <a:latin typeface="Arial"/>
                <a:ea typeface="Arial"/>
                <a:cs typeface="Arial"/>
              </a:rPr>
              <a:t>No invented danger radius</a:t>
            </a:r>
          </a:p>
        </p:txBody>
      </p:sp>
      <p:sp>
        <p:nvSpPr>
          <p:cNvPr id="16" name="">
            <a:extLst xmlns:a="http://schemas.openxmlformats.org/drawingml/2006/main">
              <a:ext uri="{FF2B5EF4-FFF2-40B4-BE49-F238E27FC236}">
                <a16:creationId xmlns:a16="http://schemas.microsoft.com/office/drawing/2014/main" id="{F6F098A8-7C7E-441C-9BDF-BB9E83911C14}"/>
              </a:ext>
            </a:extLst>
          </p:cNvPr>
          <p:cNvSpPr>
            <a:spLocks xmlns:a="http://schemas.openxmlformats.org/drawingml/2006/main" noGrp="1"/>
          </p:cNvSpPr>
          <p:nvPr/>
        </p:nvSpPr>
        <p:spPr>
          <a:xfrm xmlns:a="http://schemas.openxmlformats.org/drawingml/2006/main">
            <a:off x="4914900" y="933450"/>
            <a:ext cx="6838950" cy="513397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e7467a52f508450f"/>
          <a:srcRect xmlns:a="http://schemas.openxmlformats.org/drawingml/2006/main" l="12465" t="0" r="12465" b="0"/>
          <a:stretch xmlns:a="http://schemas.openxmlformats.org/drawingml/2006/main">
            <a:fillRect l="0" t="0" r="0" b="0"/>
          </a:stretch>
        </p:blipFill>
        <p:spPr>
          <a:xfrm xmlns:a="http://schemas.openxmlformats.org/drawingml/2006/main">
            <a:off x="4933950" y="952500"/>
            <a:ext cx="6800850" cy="5095875"/>
          </a:xfrm>
          <a:prstGeom xmlns:a="http://schemas.openxmlformats.org/drawingml/2006/main" prst="rect">
            <a:avLst/>
          </a:prstGeom>
        </p:spPr>
      </p:pic>
    </p:spTree>
    <p:extLst>
      <p:ext uri="{BB962C8B-B14F-4D97-AF65-F5344CB8AC3E}">
        <p14:creationId xmlns:p14="http://schemas.microsoft.com/office/powerpoint/2010/main" val="2007355634"/>
      </p:ext>
    </p:extLst>
  </p:cSld>
</p:sld>
</file>

<file path=ppt/slides/slide6.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D58A85C-844C-4A1B-A00F-0710F335DFAE}"/>
              </a:ext>
            </a:extLst>
          </p:cNvPr>
          <p:cNvSpPr>
            <a:spLocks xmlns:a="http://schemas.openxmlformats.org/drawingml/2006/main" noGrp="1"/>
          </p:cNvSpPr>
          <p:nvPr/>
        </p:nvSpPr>
        <p:spPr>
          <a:xfrm xmlns:a="http://schemas.openxmlformats.org/drawingml/2006/main">
            <a:off x="4286250" y="819150"/>
            <a:ext cx="7467600" cy="421957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4fca7455cb1740c4"/>
          <a:srcRect xmlns:a="http://schemas.openxmlformats.org/drawingml/2006/main" l="28" t="0" r="28" b="0"/>
          <a:stretch xmlns:a="http://schemas.openxmlformats.org/drawingml/2006/main">
            <a:fillRect l="0" t="0" r="0" b="0"/>
          </a:stretch>
        </p:blipFill>
        <p:spPr>
          <a:xfrm xmlns:a="http://schemas.openxmlformats.org/drawingml/2006/main">
            <a:off x="4305300" y="838200"/>
            <a:ext cx="7429500" cy="41814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287883-115D-4600-B163-877103CD1A5F}"/>
              </a:ext>
            </a:extLst>
          </p:cNvPr>
          <p:cNvSpPr>
            <a:spLocks xmlns:a="http://schemas.openxmlformats.org/drawingml/2006/main" noGrp="1"/>
          </p:cNvSpPr>
          <p:nvPr/>
        </p:nvSpPr>
        <p:spPr>
          <a:xfrm xmlns:a="http://schemas.openxmlformats.org/drawingml/2006/main">
            <a:off x="457200" y="447675"/>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BEC967E-EA84-44B6-8957-59E57E1FBC4F}"/>
              </a:ext>
            </a:extLst>
          </p:cNvPr>
          <p:cNvSpPr>
            <a:spLocks xmlns:a="http://schemas.openxmlformats.org/drawingml/2006/main" noGrp="1"/>
          </p:cNvSpPr>
          <p:nvPr/>
        </p:nvSpPr>
        <p:spPr>
          <a:xfrm xmlns:a="http://schemas.openxmlformats.org/drawingml/2006/main">
            <a:off x="457200" y="6477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PROTECT / CIVILIAN FLOW</a:t>
            </a:r>
          </a:p>
        </p:txBody>
      </p:sp>
      <p:sp>
        <p:nvSpPr>
          <p:cNvPr id="5" name="">
            <a:extLst xmlns:a="http://schemas.openxmlformats.org/drawingml/2006/main">
              <a:ext uri="{FF2B5EF4-FFF2-40B4-BE49-F238E27FC236}">
                <a16:creationId xmlns:a16="http://schemas.microsoft.com/office/drawing/2014/main" id="{CD6A91C7-5716-4AE0-AEBF-8F8487343496}"/>
              </a:ext>
            </a:extLst>
          </p:cNvPr>
          <p:cNvSpPr>
            <a:spLocks xmlns:a="http://schemas.openxmlformats.org/drawingml/2006/main" noGrp="1"/>
          </p:cNvSpPr>
          <p:nvPr/>
        </p:nvSpPr>
        <p:spPr>
          <a:xfrm xmlns:a="http://schemas.openxmlformats.org/drawingml/2006/main">
            <a:off x="457200" y="1238250"/>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936"/>
          </a:bodyPr>
          <a:lstStyle xmlns:a="http://schemas.openxmlformats.org/drawingml/2006/main"/>
          <a:p xmlns:a="http://schemas.openxmlformats.org/drawingml/2006/main">
            <a:pPr algn="l">
              <a:lnSpc>
                <a:spcPct val="94000"/>
              </a:lnSpc>
              <a:buNone/>
              <a:defRPr sz="2700" b="1" i="0">
                <a:solidFill>
                  <a:srgbClr val="F1EEE9"/>
                </a:solidFill>
                <a:latin typeface="Bahnschrift"/>
                <a:ea typeface="Bahnschrift"/>
                <a:cs typeface="Bahnschrift"/>
              </a:defRPr>
            </a:pPr>
            <a:r>
              <a:rPr sz="2700" b="1" i="0">
                <a:solidFill>
                  <a:srgbClr val="F1EEE9"/>
                </a:solidFill>
                <a:latin typeface="Bahnschrift"/>
                <a:ea typeface="Bahnschrift"/>
                <a:cs typeface="Bahnschrift"/>
              </a:rPr>
              <a:t>FROM “AM I IN DANGER?”</a:t>
            </a:r>
          </a:p>
          <a:p xmlns:a="http://schemas.openxmlformats.org/drawingml/2006/main">
            <a:pPr algn="l">
              <a:lnSpc>
                <a:spcPct val="94000"/>
              </a:lnSpc>
              <a:buNone/>
              <a:defRPr sz="2700" b="1" i="0">
                <a:solidFill>
                  <a:srgbClr val="F1EEE9"/>
                </a:solidFill>
                <a:latin typeface="Bahnschrift"/>
                <a:ea typeface="Bahnschrift"/>
                <a:cs typeface="Bahnschrift"/>
              </a:defRPr>
            </a:pPr>
            <a:r>
              <a:rPr sz="2700" b="1" i="0">
                <a:solidFill>
                  <a:srgbClr val="F1EEE9"/>
                </a:solidFill>
                <a:latin typeface="Bahnschrift"/>
                <a:ea typeface="Bahnschrift"/>
                <a:cs typeface="Bahnschrift"/>
              </a:rPr>
              <a:t>TO “HOW DO I LEAVE?”</a:t>
            </a:r>
          </a:p>
        </p:txBody>
      </p:sp>
      <p:sp>
        <p:nvSpPr>
          <p:cNvPr id="6" name="">
            <a:extLst xmlns:a="http://schemas.openxmlformats.org/drawingml/2006/main">
              <a:ext uri="{FF2B5EF4-FFF2-40B4-BE49-F238E27FC236}">
                <a16:creationId xmlns:a16="http://schemas.microsoft.com/office/drawing/2014/main" id="{B0256485-05B7-4216-82F7-763D4B9F6886}"/>
              </a:ext>
            </a:extLst>
          </p:cNvPr>
          <p:cNvSpPr>
            <a:spLocks xmlns:a="http://schemas.openxmlformats.org/drawingml/2006/main" noGrp="1"/>
          </p:cNvSpPr>
          <p:nvPr/>
        </p:nvSpPr>
        <p:spPr>
          <a:xfrm xmlns:a="http://schemas.openxmlformats.org/drawingml/2006/main">
            <a:off x="457200" y="27241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3B1F"/>
                </a:solidFill>
                <a:latin typeface="Bahnschrift"/>
                <a:ea typeface="Bahnschrift"/>
                <a:cs typeface="Bahnschrift"/>
              </a:defRPr>
            </a:pPr>
            <a:r>
              <a:rPr sz="975" b="1" i="0">
                <a:solidFill>
                  <a:srgbClr val="FF3B1F"/>
                </a:solidFill>
                <a:latin typeface="Bahnschrift"/>
                <a:ea typeface="Bahnschrift"/>
                <a:cs typeface="Bahnschrift"/>
              </a:rPr>
              <a:t>01</a:t>
            </a:r>
          </a:p>
        </p:txBody>
      </p:sp>
      <p:sp>
        <p:nvSpPr>
          <p:cNvPr id="7" name="">
            <a:extLst xmlns:a="http://schemas.openxmlformats.org/drawingml/2006/main">
              <a:ext uri="{FF2B5EF4-FFF2-40B4-BE49-F238E27FC236}">
                <a16:creationId xmlns:a16="http://schemas.microsoft.com/office/drawing/2014/main" id="{7DD95EC5-7784-49D5-9345-91513C25B862}"/>
              </a:ext>
            </a:extLst>
          </p:cNvPr>
          <p:cNvSpPr>
            <a:spLocks xmlns:a="http://schemas.openxmlformats.org/drawingml/2006/main" noGrp="1"/>
          </p:cNvSpPr>
          <p:nvPr/>
        </p:nvSpPr>
        <p:spPr>
          <a:xfrm xmlns:a="http://schemas.openxmlformats.org/drawingml/2006/main">
            <a:off x="952500" y="27146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WORLD</a:t>
            </a:r>
          </a:p>
        </p:txBody>
      </p:sp>
      <p:sp>
        <p:nvSpPr>
          <p:cNvPr id="8" name="">
            <a:extLst xmlns:a="http://schemas.openxmlformats.org/drawingml/2006/main">
              <a:ext uri="{FF2B5EF4-FFF2-40B4-BE49-F238E27FC236}">
                <a16:creationId xmlns:a16="http://schemas.microsoft.com/office/drawing/2014/main" id="{7EA3F7BC-28D8-48C7-8004-A7F9A1CA4060}"/>
              </a:ext>
            </a:extLst>
          </p:cNvPr>
          <p:cNvSpPr>
            <a:spLocks xmlns:a="http://schemas.openxmlformats.org/drawingml/2006/main" noGrp="1"/>
          </p:cNvSpPr>
          <p:nvPr/>
        </p:nvSpPr>
        <p:spPr>
          <a:xfrm xmlns:a="http://schemas.openxmlformats.org/drawingml/2006/main">
            <a:off x="619125" y="299085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5DB222-5E24-459E-9894-52A331414641}"/>
              </a:ext>
            </a:extLst>
          </p:cNvPr>
          <p:cNvSpPr>
            <a:spLocks xmlns:a="http://schemas.openxmlformats.org/drawingml/2006/main" noGrp="1"/>
          </p:cNvSpPr>
          <p:nvPr/>
        </p:nvSpPr>
        <p:spPr>
          <a:xfrm xmlns:a="http://schemas.openxmlformats.org/drawingml/2006/main">
            <a:off x="457200" y="32099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F3B1F"/>
                </a:solidFill>
                <a:latin typeface="Bahnschrift"/>
                <a:ea typeface="Bahnschrift"/>
                <a:cs typeface="Bahnschrift"/>
              </a:defRPr>
            </a:pPr>
            <a:r>
              <a:rPr sz="975" b="1" i="0">
                <a:solidFill>
                  <a:srgbClr val="FF3B1F"/>
                </a:solidFill>
                <a:latin typeface="Bahnschrift"/>
                <a:ea typeface="Bahnschrift"/>
                <a:cs typeface="Bahnschrift"/>
              </a:rPr>
              <a:t>02</a:t>
            </a:r>
          </a:p>
        </p:txBody>
      </p:sp>
      <p:sp>
        <p:nvSpPr>
          <p:cNvPr id="10" name="">
            <a:extLst xmlns:a="http://schemas.openxmlformats.org/drawingml/2006/main">
              <a:ext uri="{FF2B5EF4-FFF2-40B4-BE49-F238E27FC236}">
                <a16:creationId xmlns:a16="http://schemas.microsoft.com/office/drawing/2014/main" id="{FD17EC10-D88E-40D5-93E0-481701E9BF08}"/>
              </a:ext>
            </a:extLst>
          </p:cNvPr>
          <p:cNvSpPr>
            <a:spLocks xmlns:a="http://schemas.openxmlformats.org/drawingml/2006/main" noGrp="1"/>
          </p:cNvSpPr>
          <p:nvPr/>
        </p:nvSpPr>
        <p:spPr>
          <a:xfrm xmlns:a="http://schemas.openxmlformats.org/drawingml/2006/main">
            <a:off x="952500" y="32004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NEAR YOU</a:t>
            </a:r>
          </a:p>
        </p:txBody>
      </p:sp>
      <p:sp>
        <p:nvSpPr>
          <p:cNvPr id="11" name="">
            <a:extLst xmlns:a="http://schemas.openxmlformats.org/drawingml/2006/main">
              <a:ext uri="{FF2B5EF4-FFF2-40B4-BE49-F238E27FC236}">
                <a16:creationId xmlns:a16="http://schemas.microsoft.com/office/drawing/2014/main" id="{67808D90-01EF-4C1E-BCE8-FB2B9B18BFB8}"/>
              </a:ext>
            </a:extLst>
          </p:cNvPr>
          <p:cNvSpPr>
            <a:spLocks xmlns:a="http://schemas.openxmlformats.org/drawingml/2006/main" noGrp="1"/>
          </p:cNvSpPr>
          <p:nvPr/>
        </p:nvSpPr>
        <p:spPr>
          <a:xfrm xmlns:a="http://schemas.openxmlformats.org/drawingml/2006/main">
            <a:off x="619125" y="3476625"/>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ACCA76-6978-4143-821A-2DAB868F4301}"/>
              </a:ext>
            </a:extLst>
          </p:cNvPr>
          <p:cNvSpPr>
            <a:spLocks xmlns:a="http://schemas.openxmlformats.org/drawingml/2006/main" noGrp="1"/>
          </p:cNvSpPr>
          <p:nvPr/>
        </p:nvSpPr>
        <p:spPr>
          <a:xfrm xmlns:a="http://schemas.openxmlformats.org/drawingml/2006/main">
            <a:off x="457200" y="369570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03</a:t>
            </a:r>
          </a:p>
        </p:txBody>
      </p:sp>
      <p:sp>
        <p:nvSpPr>
          <p:cNvPr id="13" name="">
            <a:extLst xmlns:a="http://schemas.openxmlformats.org/drawingml/2006/main">
              <a:ext uri="{FF2B5EF4-FFF2-40B4-BE49-F238E27FC236}">
                <a16:creationId xmlns:a16="http://schemas.microsoft.com/office/drawing/2014/main" id="{E05E240D-C202-4E2F-B87C-B5C9EFA26871}"/>
              </a:ext>
            </a:extLst>
          </p:cNvPr>
          <p:cNvSpPr>
            <a:spLocks xmlns:a="http://schemas.openxmlformats.org/drawingml/2006/main" noGrp="1"/>
          </p:cNvSpPr>
          <p:nvPr/>
        </p:nvSpPr>
        <p:spPr>
          <a:xfrm xmlns:a="http://schemas.openxmlformats.org/drawingml/2006/main">
            <a:off x="952500" y="368617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HAZARD</a:t>
            </a:r>
          </a:p>
        </p:txBody>
      </p:sp>
      <p:sp>
        <p:nvSpPr>
          <p:cNvPr id="14" name="">
            <a:extLst xmlns:a="http://schemas.openxmlformats.org/drawingml/2006/main">
              <a:ext uri="{FF2B5EF4-FFF2-40B4-BE49-F238E27FC236}">
                <a16:creationId xmlns:a16="http://schemas.microsoft.com/office/drawing/2014/main" id="{56A3EF5B-47EE-42B6-A6F3-40A47600BFBD}"/>
              </a:ext>
            </a:extLst>
          </p:cNvPr>
          <p:cNvSpPr>
            <a:spLocks xmlns:a="http://schemas.openxmlformats.org/drawingml/2006/main" noGrp="1"/>
          </p:cNvSpPr>
          <p:nvPr/>
        </p:nvSpPr>
        <p:spPr>
          <a:xfrm xmlns:a="http://schemas.openxmlformats.org/drawingml/2006/main">
            <a:off x="619125" y="396240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E37077B-06E5-48FA-B927-FE4A0E594E4E}"/>
              </a:ext>
            </a:extLst>
          </p:cNvPr>
          <p:cNvSpPr>
            <a:spLocks xmlns:a="http://schemas.openxmlformats.org/drawingml/2006/main" noGrp="1"/>
          </p:cNvSpPr>
          <p:nvPr/>
        </p:nvSpPr>
        <p:spPr>
          <a:xfrm xmlns:a="http://schemas.openxmlformats.org/drawingml/2006/main">
            <a:off x="457200" y="41814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04</a:t>
            </a:r>
          </a:p>
        </p:txBody>
      </p:sp>
      <p:sp>
        <p:nvSpPr>
          <p:cNvPr id="16" name="">
            <a:extLst xmlns:a="http://schemas.openxmlformats.org/drawingml/2006/main">
              <a:ext uri="{FF2B5EF4-FFF2-40B4-BE49-F238E27FC236}">
                <a16:creationId xmlns:a16="http://schemas.microsoft.com/office/drawing/2014/main" id="{CEA59912-F57B-4248-934B-5EEAD537F4C6}"/>
              </a:ext>
            </a:extLst>
          </p:cNvPr>
          <p:cNvSpPr>
            <a:spLocks xmlns:a="http://schemas.openxmlformats.org/drawingml/2006/main" noGrp="1"/>
          </p:cNvSpPr>
          <p:nvPr/>
        </p:nvSpPr>
        <p:spPr>
          <a:xfrm xmlns:a="http://schemas.openxmlformats.org/drawingml/2006/main">
            <a:off x="952500" y="41719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DESTINATION</a:t>
            </a:r>
          </a:p>
        </p:txBody>
      </p:sp>
      <p:sp>
        <p:nvSpPr>
          <p:cNvPr id="17" name="">
            <a:extLst xmlns:a="http://schemas.openxmlformats.org/drawingml/2006/main">
              <a:ext uri="{FF2B5EF4-FFF2-40B4-BE49-F238E27FC236}">
                <a16:creationId xmlns:a16="http://schemas.microsoft.com/office/drawing/2014/main" id="{D380BA08-82A4-4D35-BC7C-7C31C5A7D849}"/>
              </a:ext>
            </a:extLst>
          </p:cNvPr>
          <p:cNvSpPr>
            <a:spLocks xmlns:a="http://schemas.openxmlformats.org/drawingml/2006/main" noGrp="1"/>
          </p:cNvSpPr>
          <p:nvPr/>
        </p:nvSpPr>
        <p:spPr>
          <a:xfrm xmlns:a="http://schemas.openxmlformats.org/drawingml/2006/main">
            <a:off x="619125" y="4448175"/>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6190F65-960A-43C9-B58D-BC856F07A649}"/>
              </a:ext>
            </a:extLst>
          </p:cNvPr>
          <p:cNvSpPr>
            <a:spLocks xmlns:a="http://schemas.openxmlformats.org/drawingml/2006/main" noGrp="1"/>
          </p:cNvSpPr>
          <p:nvPr/>
        </p:nvSpPr>
        <p:spPr>
          <a:xfrm xmlns:a="http://schemas.openxmlformats.org/drawingml/2006/main">
            <a:off x="457200" y="46672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05</a:t>
            </a:r>
          </a:p>
        </p:txBody>
      </p:sp>
      <p:sp>
        <p:nvSpPr>
          <p:cNvPr id="19" name="">
            <a:extLst xmlns:a="http://schemas.openxmlformats.org/drawingml/2006/main">
              <a:ext uri="{FF2B5EF4-FFF2-40B4-BE49-F238E27FC236}">
                <a16:creationId xmlns:a16="http://schemas.microsoft.com/office/drawing/2014/main" id="{FDFE4D66-5092-48F6-A204-3E001D9C286A}"/>
              </a:ext>
            </a:extLst>
          </p:cNvPr>
          <p:cNvSpPr>
            <a:spLocks xmlns:a="http://schemas.openxmlformats.org/drawingml/2006/main" noGrp="1"/>
          </p:cNvSpPr>
          <p:nvPr/>
        </p:nvSpPr>
        <p:spPr>
          <a:xfrm xmlns:a="http://schemas.openxmlformats.org/drawingml/2006/main">
            <a:off x="952500" y="4657725"/>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ROUTES</a:t>
            </a:r>
          </a:p>
        </p:txBody>
      </p:sp>
      <p:sp>
        <p:nvSpPr>
          <p:cNvPr id="20" name="">
            <a:extLst xmlns:a="http://schemas.openxmlformats.org/drawingml/2006/main">
              <a:ext uri="{FF2B5EF4-FFF2-40B4-BE49-F238E27FC236}">
                <a16:creationId xmlns:a16="http://schemas.microsoft.com/office/drawing/2014/main" id="{45F6AB48-860B-4FA1-9E2E-B9CAC6D3ED43}"/>
              </a:ext>
            </a:extLst>
          </p:cNvPr>
          <p:cNvSpPr>
            <a:spLocks xmlns:a="http://schemas.openxmlformats.org/drawingml/2006/main" noGrp="1"/>
          </p:cNvSpPr>
          <p:nvPr/>
        </p:nvSpPr>
        <p:spPr>
          <a:xfrm xmlns:a="http://schemas.openxmlformats.org/drawingml/2006/main">
            <a:off x="619125" y="4933950"/>
            <a:ext cx="9525" cy="209550"/>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993EDC2-A06B-4099-BA10-D8FD2C65BE98}"/>
              </a:ext>
            </a:extLst>
          </p:cNvPr>
          <p:cNvSpPr>
            <a:spLocks xmlns:a="http://schemas.openxmlformats.org/drawingml/2006/main" noGrp="1"/>
          </p:cNvSpPr>
          <p:nvPr/>
        </p:nvSpPr>
        <p:spPr>
          <a:xfrm xmlns:a="http://schemas.openxmlformats.org/drawingml/2006/main">
            <a:off x="457200" y="51530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06</a:t>
            </a:r>
          </a:p>
        </p:txBody>
      </p:sp>
      <p:sp>
        <p:nvSpPr>
          <p:cNvPr id="22" name="">
            <a:extLst xmlns:a="http://schemas.openxmlformats.org/drawingml/2006/main">
              <a:ext uri="{FF2B5EF4-FFF2-40B4-BE49-F238E27FC236}">
                <a16:creationId xmlns:a16="http://schemas.microsoft.com/office/drawing/2014/main" id="{1C6C46F8-ADEE-46A4-A0A3-915F5BBD9C77}"/>
              </a:ext>
            </a:extLst>
          </p:cNvPr>
          <p:cNvSpPr>
            <a:spLocks xmlns:a="http://schemas.openxmlformats.org/drawingml/2006/main" noGrp="1"/>
          </p:cNvSpPr>
          <p:nvPr/>
        </p:nvSpPr>
        <p:spPr>
          <a:xfrm xmlns:a="http://schemas.openxmlformats.org/drawingml/2006/main">
            <a:off x="952500" y="51435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7F888E"/>
                </a:solidFill>
                <a:latin typeface="Bahnschrift"/>
                <a:ea typeface="Bahnschrift"/>
                <a:cs typeface="Bahnschrift"/>
              </a:defRPr>
            </a:pPr>
            <a:r>
              <a:rPr sz="1350" b="1" i="0">
                <a:solidFill>
                  <a:srgbClr val="7F888E"/>
                </a:solidFill>
                <a:latin typeface="Bahnschrift"/>
                <a:ea typeface="Bahnschrift"/>
                <a:cs typeface="Bahnschrift"/>
              </a:rPr>
              <a:t>ESCAPE</a:t>
            </a:r>
          </a:p>
        </p:txBody>
      </p:sp>
      <p:sp>
        <p:nvSpPr>
          <p:cNvPr id="23" name="">
            <a:extLst xmlns:a="http://schemas.openxmlformats.org/drawingml/2006/main">
              <a:ext uri="{FF2B5EF4-FFF2-40B4-BE49-F238E27FC236}">
                <a16:creationId xmlns:a16="http://schemas.microsoft.com/office/drawing/2014/main" id="{2821FA06-4437-45FB-A829-2AA51638D679}"/>
              </a:ext>
            </a:extLst>
          </p:cNvPr>
          <p:cNvSpPr>
            <a:spLocks xmlns:a="http://schemas.openxmlformats.org/drawingml/2006/main" noGrp="1"/>
          </p:cNvSpPr>
          <p:nvPr/>
        </p:nvSpPr>
        <p:spPr>
          <a:xfrm xmlns:a="http://schemas.openxmlformats.org/drawingml/2006/main">
            <a:off x="457200" y="5905500"/>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00" b="0" i="0">
                <a:solidFill>
                  <a:srgbClr val="AAB0B4"/>
                </a:solidFill>
                <a:latin typeface="Arial"/>
                <a:ea typeface="Arial"/>
                <a:cs typeface="Arial"/>
              </a:defRPr>
            </a:pPr>
            <a:r>
              <a:rPr sz="1200" b="0" i="0">
                <a:solidFill>
                  <a:srgbClr val="AAB0B4"/>
                </a:solidFill>
                <a:latin typeface="Arial"/>
                <a:ea typeface="Arial"/>
                <a:cs typeface="Arial"/>
              </a:rPr>
              <a:t>Real road routes. Verified exposure checks. Clear reasons when a route changes.</a:t>
            </a:r>
          </a:p>
        </p:txBody>
      </p:sp>
      <p:sp>
        <p:nvSpPr>
          <p:cNvPr id="24" name="">
            <a:extLst xmlns:a="http://schemas.openxmlformats.org/drawingml/2006/main">
              <a:ext uri="{FF2B5EF4-FFF2-40B4-BE49-F238E27FC236}">
                <a16:creationId xmlns:a16="http://schemas.microsoft.com/office/drawing/2014/main" id="{1C04438E-C1E5-4124-BDAF-7869F0E15081}"/>
              </a:ext>
            </a:extLst>
          </p:cNvPr>
          <p:cNvSpPr>
            <a:spLocks xmlns:a="http://schemas.openxmlformats.org/drawingml/2006/main" noGrp="1"/>
          </p:cNvSpPr>
          <p:nvPr/>
        </p:nvSpPr>
        <p:spPr>
          <a:xfrm xmlns:a="http://schemas.openxmlformats.org/drawingml/2006/main">
            <a:off x="4305300" y="5476875"/>
            <a:ext cx="74295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DB8867A-AB7B-412D-84E2-7E9ED5BC062F}"/>
              </a:ext>
            </a:extLst>
          </p:cNvPr>
          <p:cNvSpPr>
            <a:spLocks xmlns:a="http://schemas.openxmlformats.org/drawingml/2006/main" noGrp="1"/>
          </p:cNvSpPr>
          <p:nvPr/>
        </p:nvSpPr>
        <p:spPr>
          <a:xfrm xmlns:a="http://schemas.openxmlformats.org/drawingml/2006/main">
            <a:off x="4305300" y="5715000"/>
            <a:ext cx="1047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F3B1F"/>
                </a:solidFill>
                <a:latin typeface="Bahnschrift"/>
                <a:ea typeface="Bahnschrift"/>
                <a:cs typeface="Bahnschrift"/>
              </a:defRPr>
            </a:pPr>
            <a:r>
              <a:rPr sz="1050" b="1" i="0">
                <a:solidFill>
                  <a:srgbClr val="FF3B1F"/>
                </a:solidFill>
                <a:latin typeface="Bahnschrift"/>
                <a:ea typeface="Bahnschrift"/>
                <a:cs typeface="Bahnschrift"/>
              </a:rPr>
              <a:t>FASTEST</a:t>
            </a:r>
          </a:p>
        </p:txBody>
      </p:sp>
      <p:sp>
        <p:nvSpPr>
          <p:cNvPr id="26" name="">
            <a:extLst xmlns:a="http://schemas.openxmlformats.org/drawingml/2006/main">
              <a:ext uri="{FF2B5EF4-FFF2-40B4-BE49-F238E27FC236}">
                <a16:creationId xmlns:a16="http://schemas.microsoft.com/office/drawing/2014/main" id="{6B7A965C-6F8D-420D-8BB9-B59DA98EE0C1}"/>
              </a:ext>
            </a:extLst>
          </p:cNvPr>
          <p:cNvSpPr>
            <a:spLocks xmlns:a="http://schemas.openxmlformats.org/drawingml/2006/main" noGrp="1"/>
          </p:cNvSpPr>
          <p:nvPr/>
        </p:nvSpPr>
        <p:spPr>
          <a:xfrm xmlns:a="http://schemas.openxmlformats.org/drawingml/2006/main">
            <a:off x="6267450" y="571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LOWER VERIFIED EXPOSURE</a:t>
            </a:r>
          </a:p>
        </p:txBody>
      </p:sp>
      <p:sp>
        <p:nvSpPr>
          <p:cNvPr id="27" name="">
            <a:extLst xmlns:a="http://schemas.openxmlformats.org/drawingml/2006/main">
              <a:ext uri="{FF2B5EF4-FFF2-40B4-BE49-F238E27FC236}">
                <a16:creationId xmlns:a16="http://schemas.microsoft.com/office/drawing/2014/main" id="{51D496DA-A5F8-45D7-A585-18E206F9ED24}"/>
              </a:ext>
            </a:extLst>
          </p:cNvPr>
          <p:cNvSpPr>
            <a:spLocks xmlns:a="http://schemas.openxmlformats.org/drawingml/2006/main" noGrp="1"/>
          </p:cNvSpPr>
          <p:nvPr/>
        </p:nvSpPr>
        <p:spPr>
          <a:xfrm xmlns:a="http://schemas.openxmlformats.org/drawingml/2006/main">
            <a:off x="9353550" y="5715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MONITORED NAVIGATION</a:t>
            </a:r>
          </a:p>
        </p:txBody>
      </p:sp>
      <p:sp>
        <p:nvSpPr>
          <p:cNvPr id="28" name="">
            <a:extLst xmlns:a="http://schemas.openxmlformats.org/drawingml/2006/main">
              <a:ext uri="{FF2B5EF4-FFF2-40B4-BE49-F238E27FC236}">
                <a16:creationId xmlns:a16="http://schemas.microsoft.com/office/drawing/2014/main" id="{4D17D3D5-812B-4467-8FC1-97E0920F236E}"/>
              </a:ext>
            </a:extLst>
          </p:cNvPr>
          <p:cNvSpPr>
            <a:spLocks xmlns:a="http://schemas.openxmlformats.org/drawingml/2006/main" noGrp="1"/>
          </p:cNvSpPr>
          <p:nvPr/>
        </p:nvSpPr>
        <p:spPr>
          <a:xfrm xmlns:a="http://schemas.openxmlformats.org/drawingml/2006/main">
            <a:off x="4305300" y="60483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Time + distance</a:t>
            </a:r>
          </a:p>
        </p:txBody>
      </p:sp>
      <p:sp>
        <p:nvSpPr>
          <p:cNvPr id="29" name="">
            <a:extLst xmlns:a="http://schemas.openxmlformats.org/drawingml/2006/main">
              <a:ext uri="{FF2B5EF4-FFF2-40B4-BE49-F238E27FC236}">
                <a16:creationId xmlns:a16="http://schemas.microsoft.com/office/drawing/2014/main" id="{1C3BAF79-051A-4DED-B14E-128B53F3BDF5}"/>
              </a:ext>
            </a:extLst>
          </p:cNvPr>
          <p:cNvSpPr>
            <a:spLocks xmlns:a="http://schemas.openxmlformats.org/drawingml/2006/main" noGrp="1"/>
          </p:cNvSpPr>
          <p:nvPr/>
        </p:nvSpPr>
        <p:spPr>
          <a:xfrm xmlns:a="http://schemas.openxmlformats.org/drawingml/2006/main">
            <a:off x="6267450" y="6048375"/>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Explains hazard differences</a:t>
            </a:r>
          </a:p>
        </p:txBody>
      </p:sp>
      <p:sp>
        <p:nvSpPr>
          <p:cNvPr id="30" name="">
            <a:extLst xmlns:a="http://schemas.openxmlformats.org/drawingml/2006/main">
              <a:ext uri="{FF2B5EF4-FFF2-40B4-BE49-F238E27FC236}">
                <a16:creationId xmlns:a16="http://schemas.microsoft.com/office/drawing/2014/main" id="{311D05F0-4FCA-4D6B-A436-494CC0AE512C}"/>
              </a:ext>
            </a:extLst>
          </p:cNvPr>
          <p:cNvSpPr>
            <a:spLocks xmlns:a="http://schemas.openxmlformats.org/drawingml/2006/main" noGrp="1"/>
          </p:cNvSpPr>
          <p:nvPr/>
        </p:nvSpPr>
        <p:spPr>
          <a:xfrm xmlns:a="http://schemas.openxmlformats.org/drawingml/2006/main">
            <a:off x="9353550" y="6048375"/>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Rechecks meaningful changes</a:t>
            </a:r>
          </a:p>
        </p:txBody>
      </p:sp>
    </p:spTree>
    <p:extLst>
      <p:ext uri="{BB962C8B-B14F-4D97-AF65-F5344CB8AC3E}">
        <p14:creationId xmlns:p14="http://schemas.microsoft.com/office/powerpoint/2010/main" val="1225868407"/>
      </p:ext>
    </p:extLst>
  </p:cSld>
</p:sld>
</file>

<file path=ppt/slides/slide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2A5F6D2-46F3-4913-A2D0-57AFF570B3E4}"/>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6838084E-D341-4DE9-AB7D-C913E788FD4D}"/>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07</a:t>
            </a:r>
          </a:p>
        </p:txBody>
      </p:sp>
      <p:sp>
        <p:nvSpPr>
          <p:cNvPr id="3" name="">
            <a:extLst xmlns:a="http://schemas.openxmlformats.org/drawingml/2006/main">
              <a:ext uri="{FF2B5EF4-FFF2-40B4-BE49-F238E27FC236}">
                <a16:creationId xmlns:a16="http://schemas.microsoft.com/office/drawing/2014/main" id="{02AEB4F3-1C24-4B78-BA8D-1E117555DFC4}"/>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0DEDA6-F729-44FB-A0D8-7B53A749C186}"/>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COMMUNITY EVIDENCE</a:t>
            </a:r>
          </a:p>
        </p:txBody>
      </p:sp>
      <p:sp>
        <p:nvSpPr>
          <p:cNvPr id="5" name="">
            <a:extLst xmlns:a="http://schemas.openxmlformats.org/drawingml/2006/main">
              <a:ext uri="{FF2B5EF4-FFF2-40B4-BE49-F238E27FC236}">
                <a16:creationId xmlns:a16="http://schemas.microsoft.com/office/drawing/2014/main" id="{C139AC06-0E29-4426-8B5E-8AFCCA62C8AA}"/>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959A2E1-9913-4471-9E50-9764593AE745}"/>
              </a:ext>
            </a:extLst>
          </p:cNvPr>
          <p:cNvSpPr>
            <a:spLocks xmlns:a="http://schemas.openxmlformats.org/drawingml/2006/main" noGrp="1"/>
          </p:cNvSpPr>
          <p:nvPr/>
        </p:nvSpPr>
        <p:spPr>
          <a:xfrm xmlns:a="http://schemas.openxmlformats.org/drawingml/2006/main">
            <a:off x="457200" y="1238250"/>
            <a:ext cx="8477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0F1113"/>
                </a:solidFill>
                <a:latin typeface="Bahnschrift"/>
                <a:ea typeface="Bahnschrift"/>
                <a:cs typeface="Bahnschrift"/>
              </a:defRPr>
            </a:pPr>
            <a:r>
              <a:rPr sz="3000" b="1" i="0">
                <a:solidFill>
                  <a:srgbClr val="0F1113"/>
                </a:solidFill>
                <a:latin typeface="Bahnschrift"/>
                <a:ea typeface="Bahnschrift"/>
                <a:cs typeface="Bahnschrift"/>
              </a:rPr>
              <a:t>A HUMAN-VERIFIED PATH FROM</a:t>
            </a:r>
          </a:p>
          <a:p xmlns:a="http://schemas.openxmlformats.org/drawingml/2006/main">
            <a:pPr algn="l">
              <a:lnSpc>
                <a:spcPct val="92000"/>
              </a:lnSpc>
              <a:buNone/>
              <a:defRPr sz="3000" b="1" i="0">
                <a:solidFill>
                  <a:srgbClr val="0F1113"/>
                </a:solidFill>
                <a:latin typeface="Bahnschrift"/>
                <a:ea typeface="Bahnschrift"/>
                <a:cs typeface="Bahnschrift"/>
              </a:defRPr>
            </a:pPr>
            <a:r>
              <a:rPr sz="3000" b="1" i="0">
                <a:solidFill>
                  <a:srgbClr val="0F1113"/>
                </a:solidFill>
                <a:latin typeface="Bahnschrift"/>
                <a:ea typeface="Bahnschrift"/>
                <a:cs typeface="Bahnschrift"/>
              </a:rPr>
              <a:t>THE STREET TO THE OPERATING MAP.</a:t>
            </a:r>
          </a:p>
        </p:txBody>
      </p:sp>
      <p:sp>
        <p:nvSpPr>
          <p:cNvPr id="7" name="">
            <a:extLst xmlns:a="http://schemas.openxmlformats.org/drawingml/2006/main">
              <a:ext uri="{FF2B5EF4-FFF2-40B4-BE49-F238E27FC236}">
                <a16:creationId xmlns:a16="http://schemas.microsoft.com/office/drawing/2014/main" id="{5BB5E43C-7B85-4E6B-91D0-45BDB0C38551}"/>
              </a:ext>
            </a:extLst>
          </p:cNvPr>
          <p:cNvSpPr>
            <a:spLocks xmlns:a="http://schemas.openxmlformats.org/drawingml/2006/main" noGrp="1"/>
          </p:cNvSpPr>
          <p:nvPr/>
        </p:nvSpPr>
        <p:spPr>
          <a:xfrm xmlns:a="http://schemas.openxmlformats.org/drawingml/2006/main">
            <a:off x="4572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01</a:t>
            </a:r>
          </a:p>
        </p:txBody>
      </p:sp>
      <p:sp>
        <p:nvSpPr>
          <p:cNvPr id="8" name="">
            <a:extLst xmlns:a="http://schemas.openxmlformats.org/drawingml/2006/main">
              <a:ext uri="{FF2B5EF4-FFF2-40B4-BE49-F238E27FC236}">
                <a16:creationId xmlns:a16="http://schemas.microsoft.com/office/drawing/2014/main" id="{07B131C3-1079-43BF-9DAE-763DCA477C82}"/>
              </a:ext>
            </a:extLst>
          </p:cNvPr>
          <p:cNvSpPr>
            <a:spLocks xmlns:a="http://schemas.openxmlformats.org/drawingml/2006/main" noGrp="1"/>
          </p:cNvSpPr>
          <p:nvPr/>
        </p:nvSpPr>
        <p:spPr>
          <a:xfrm xmlns:a="http://schemas.openxmlformats.org/drawingml/2006/main">
            <a:off x="45720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7AE6FB6-4088-452B-9AD8-B9C62586D288}"/>
              </a:ext>
            </a:extLst>
          </p:cNvPr>
          <p:cNvSpPr>
            <a:spLocks xmlns:a="http://schemas.openxmlformats.org/drawingml/2006/main" noGrp="1"/>
          </p:cNvSpPr>
          <p:nvPr/>
        </p:nvSpPr>
        <p:spPr>
          <a:xfrm xmlns:a="http://schemas.openxmlformats.org/drawingml/2006/main">
            <a:off x="4572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CAPTURE</a:t>
            </a:r>
          </a:p>
        </p:txBody>
      </p:sp>
      <p:sp>
        <p:nvSpPr>
          <p:cNvPr id="10" name="">
            <a:extLst xmlns:a="http://schemas.openxmlformats.org/drawingml/2006/main">
              <a:ext uri="{FF2B5EF4-FFF2-40B4-BE49-F238E27FC236}">
                <a16:creationId xmlns:a16="http://schemas.microsoft.com/office/drawing/2014/main" id="{0332EF43-DF2D-4FEA-AD27-9F3EDFCADC9D}"/>
              </a:ext>
            </a:extLst>
          </p:cNvPr>
          <p:cNvSpPr>
            <a:spLocks xmlns:a="http://schemas.openxmlformats.org/drawingml/2006/main" noGrp="1"/>
          </p:cNvSpPr>
          <p:nvPr/>
        </p:nvSpPr>
        <p:spPr>
          <a:xfrm xmlns:a="http://schemas.openxmlformats.org/drawingml/2006/main">
            <a:off x="4572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Take or upload a photo and provide the event type.</a:t>
            </a:r>
          </a:p>
        </p:txBody>
      </p:sp>
      <p:sp>
        <p:nvSpPr>
          <p:cNvPr id="11" name="">
            <a:extLst xmlns:a="http://schemas.openxmlformats.org/drawingml/2006/main">
              <a:ext uri="{FF2B5EF4-FFF2-40B4-BE49-F238E27FC236}">
                <a16:creationId xmlns:a16="http://schemas.microsoft.com/office/drawing/2014/main" id="{C0D467FC-0B0C-45E3-A4D1-9D6508200786}"/>
              </a:ext>
            </a:extLst>
          </p:cNvPr>
          <p:cNvSpPr>
            <a:spLocks xmlns:a="http://schemas.openxmlformats.org/drawingml/2006/main" noGrp="1"/>
          </p:cNvSpPr>
          <p:nvPr/>
        </p:nvSpPr>
        <p:spPr>
          <a:xfrm xmlns:a="http://schemas.openxmlformats.org/drawingml/2006/main">
            <a:off x="234315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DD229D-4FE4-4C5E-B63B-8153B66C44EA}"/>
              </a:ext>
            </a:extLst>
          </p:cNvPr>
          <p:cNvSpPr>
            <a:spLocks xmlns:a="http://schemas.openxmlformats.org/drawingml/2006/main" noGrp="1"/>
          </p:cNvSpPr>
          <p:nvPr/>
        </p:nvSpPr>
        <p:spPr>
          <a:xfrm xmlns:a="http://schemas.openxmlformats.org/drawingml/2006/main">
            <a:off x="249555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8FF4BC-EA01-44DB-ABF3-87576E6FE135}"/>
              </a:ext>
            </a:extLst>
          </p:cNvPr>
          <p:cNvSpPr>
            <a:spLocks xmlns:a="http://schemas.openxmlformats.org/drawingml/2006/main" noGrp="1"/>
          </p:cNvSpPr>
          <p:nvPr/>
        </p:nvSpPr>
        <p:spPr>
          <a:xfrm xmlns:a="http://schemas.openxmlformats.org/drawingml/2006/main">
            <a:off x="272415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02</a:t>
            </a:r>
          </a:p>
        </p:txBody>
      </p:sp>
      <p:sp>
        <p:nvSpPr>
          <p:cNvPr id="14" name="">
            <a:extLst xmlns:a="http://schemas.openxmlformats.org/drawingml/2006/main">
              <a:ext uri="{FF2B5EF4-FFF2-40B4-BE49-F238E27FC236}">
                <a16:creationId xmlns:a16="http://schemas.microsoft.com/office/drawing/2014/main" id="{0951396A-1D8F-4902-AAC7-334FB8597A10}"/>
              </a:ext>
            </a:extLst>
          </p:cNvPr>
          <p:cNvSpPr>
            <a:spLocks xmlns:a="http://schemas.openxmlformats.org/drawingml/2006/main" noGrp="1"/>
          </p:cNvSpPr>
          <p:nvPr/>
        </p:nvSpPr>
        <p:spPr>
          <a:xfrm xmlns:a="http://schemas.openxmlformats.org/drawingml/2006/main">
            <a:off x="272415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26BFE7-FDBD-40D6-ADBC-D1E7DCE6CA06}"/>
              </a:ext>
            </a:extLst>
          </p:cNvPr>
          <p:cNvSpPr>
            <a:spLocks xmlns:a="http://schemas.openxmlformats.org/drawingml/2006/main" noGrp="1"/>
          </p:cNvSpPr>
          <p:nvPr/>
        </p:nvSpPr>
        <p:spPr>
          <a:xfrm xmlns:a="http://schemas.openxmlformats.org/drawingml/2006/main">
            <a:off x="272415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LOCATE</a:t>
            </a:r>
          </a:p>
        </p:txBody>
      </p:sp>
      <p:sp>
        <p:nvSpPr>
          <p:cNvPr id="16" name="">
            <a:extLst xmlns:a="http://schemas.openxmlformats.org/drawingml/2006/main">
              <a:ext uri="{FF2B5EF4-FFF2-40B4-BE49-F238E27FC236}">
                <a16:creationId xmlns:a16="http://schemas.microsoft.com/office/drawing/2014/main" id="{663555CF-038D-4560-88F9-5AFB85F23CA6}"/>
              </a:ext>
            </a:extLst>
          </p:cNvPr>
          <p:cNvSpPr>
            <a:spLocks xmlns:a="http://schemas.openxmlformats.org/drawingml/2006/main" noGrp="1"/>
          </p:cNvSpPr>
          <p:nvPr/>
        </p:nvSpPr>
        <p:spPr>
          <a:xfrm xmlns:a="http://schemas.openxmlformats.org/drawingml/2006/main">
            <a:off x="272415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Attach device location after explicit permission.</a:t>
            </a:r>
          </a:p>
        </p:txBody>
      </p:sp>
      <p:sp>
        <p:nvSpPr>
          <p:cNvPr id="17" name="">
            <a:extLst xmlns:a="http://schemas.openxmlformats.org/drawingml/2006/main">
              <a:ext uri="{FF2B5EF4-FFF2-40B4-BE49-F238E27FC236}">
                <a16:creationId xmlns:a16="http://schemas.microsoft.com/office/drawing/2014/main" id="{1B7FC4C0-9D9C-40EA-8DC7-1076D2DAEF56}"/>
              </a:ext>
            </a:extLst>
          </p:cNvPr>
          <p:cNvSpPr>
            <a:spLocks xmlns:a="http://schemas.openxmlformats.org/drawingml/2006/main" noGrp="1"/>
          </p:cNvSpPr>
          <p:nvPr/>
        </p:nvSpPr>
        <p:spPr>
          <a:xfrm xmlns:a="http://schemas.openxmlformats.org/drawingml/2006/main">
            <a:off x="461010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F08E861-58F3-47D6-9BF9-B218C1154073}"/>
              </a:ext>
            </a:extLst>
          </p:cNvPr>
          <p:cNvSpPr>
            <a:spLocks xmlns:a="http://schemas.openxmlformats.org/drawingml/2006/main" noGrp="1"/>
          </p:cNvSpPr>
          <p:nvPr/>
        </p:nvSpPr>
        <p:spPr>
          <a:xfrm xmlns:a="http://schemas.openxmlformats.org/drawingml/2006/main">
            <a:off x="476250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1C402C4-24EC-4B7D-9CBA-9C76AC09D3D9}"/>
              </a:ext>
            </a:extLst>
          </p:cNvPr>
          <p:cNvSpPr>
            <a:spLocks xmlns:a="http://schemas.openxmlformats.org/drawingml/2006/main" noGrp="1"/>
          </p:cNvSpPr>
          <p:nvPr/>
        </p:nvSpPr>
        <p:spPr>
          <a:xfrm xmlns:a="http://schemas.openxmlformats.org/drawingml/2006/main">
            <a:off x="49911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03</a:t>
            </a:r>
          </a:p>
        </p:txBody>
      </p:sp>
      <p:sp>
        <p:nvSpPr>
          <p:cNvPr id="20" name="">
            <a:extLst xmlns:a="http://schemas.openxmlformats.org/drawingml/2006/main">
              <a:ext uri="{FF2B5EF4-FFF2-40B4-BE49-F238E27FC236}">
                <a16:creationId xmlns:a16="http://schemas.microsoft.com/office/drawing/2014/main" id="{E67CD880-627B-4C81-AB91-CC0BD2C0E59B}"/>
              </a:ext>
            </a:extLst>
          </p:cNvPr>
          <p:cNvSpPr>
            <a:spLocks xmlns:a="http://schemas.openxmlformats.org/drawingml/2006/main" noGrp="1"/>
          </p:cNvSpPr>
          <p:nvPr/>
        </p:nvSpPr>
        <p:spPr>
          <a:xfrm xmlns:a="http://schemas.openxmlformats.org/drawingml/2006/main">
            <a:off x="4991100" y="3448050"/>
            <a:ext cx="186690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0F3196C-147B-402E-82AE-93A0D8502D12}"/>
              </a:ext>
            </a:extLst>
          </p:cNvPr>
          <p:cNvSpPr>
            <a:spLocks xmlns:a="http://schemas.openxmlformats.org/drawingml/2006/main" noGrp="1"/>
          </p:cNvSpPr>
          <p:nvPr/>
        </p:nvSpPr>
        <p:spPr>
          <a:xfrm xmlns:a="http://schemas.openxmlformats.org/drawingml/2006/main">
            <a:off x="49911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VERIFY</a:t>
            </a:r>
          </a:p>
        </p:txBody>
      </p:sp>
      <p:sp>
        <p:nvSpPr>
          <p:cNvPr id="22" name="">
            <a:extLst xmlns:a="http://schemas.openxmlformats.org/drawingml/2006/main">
              <a:ext uri="{FF2B5EF4-FFF2-40B4-BE49-F238E27FC236}">
                <a16:creationId xmlns:a16="http://schemas.microsoft.com/office/drawing/2014/main" id="{3B77D88B-19DE-419F-AB7C-4BE7A0E3BAA9}"/>
              </a:ext>
            </a:extLst>
          </p:cNvPr>
          <p:cNvSpPr>
            <a:spLocks xmlns:a="http://schemas.openxmlformats.org/drawingml/2006/main" noGrp="1"/>
          </p:cNvSpPr>
          <p:nvPr/>
        </p:nvSpPr>
        <p:spPr>
          <a:xfrm xmlns:a="http://schemas.openxmlformats.org/drawingml/2006/main">
            <a:off x="49911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An operator reviews the evidence and classifies it.</a:t>
            </a:r>
          </a:p>
        </p:txBody>
      </p:sp>
      <p:sp>
        <p:nvSpPr>
          <p:cNvPr id="23" name="">
            <a:extLst xmlns:a="http://schemas.openxmlformats.org/drawingml/2006/main">
              <a:ext uri="{FF2B5EF4-FFF2-40B4-BE49-F238E27FC236}">
                <a16:creationId xmlns:a16="http://schemas.microsoft.com/office/drawing/2014/main" id="{C3A25C50-04F9-4047-977D-813125FAD287}"/>
              </a:ext>
            </a:extLst>
          </p:cNvPr>
          <p:cNvSpPr>
            <a:spLocks xmlns:a="http://schemas.openxmlformats.org/drawingml/2006/main" noGrp="1"/>
          </p:cNvSpPr>
          <p:nvPr/>
        </p:nvSpPr>
        <p:spPr>
          <a:xfrm xmlns:a="http://schemas.openxmlformats.org/drawingml/2006/main">
            <a:off x="687705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F467CCC-18CD-4AB2-8FCD-AA9AB02A079D}"/>
              </a:ext>
            </a:extLst>
          </p:cNvPr>
          <p:cNvSpPr>
            <a:spLocks xmlns:a="http://schemas.openxmlformats.org/drawingml/2006/main" noGrp="1"/>
          </p:cNvSpPr>
          <p:nvPr/>
        </p:nvSpPr>
        <p:spPr>
          <a:xfrm xmlns:a="http://schemas.openxmlformats.org/drawingml/2006/main">
            <a:off x="702945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71EFE75-122D-49F8-B62A-2649E65216D9}"/>
              </a:ext>
            </a:extLst>
          </p:cNvPr>
          <p:cNvSpPr>
            <a:spLocks xmlns:a="http://schemas.openxmlformats.org/drawingml/2006/main" noGrp="1"/>
          </p:cNvSpPr>
          <p:nvPr/>
        </p:nvSpPr>
        <p:spPr>
          <a:xfrm xmlns:a="http://schemas.openxmlformats.org/drawingml/2006/main">
            <a:off x="725805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04</a:t>
            </a:r>
          </a:p>
        </p:txBody>
      </p:sp>
      <p:sp>
        <p:nvSpPr>
          <p:cNvPr id="26" name="">
            <a:extLst xmlns:a="http://schemas.openxmlformats.org/drawingml/2006/main">
              <a:ext uri="{FF2B5EF4-FFF2-40B4-BE49-F238E27FC236}">
                <a16:creationId xmlns:a16="http://schemas.microsoft.com/office/drawing/2014/main" id="{E5EB7878-78AC-4F63-B2B9-005F182250C6}"/>
              </a:ext>
            </a:extLst>
          </p:cNvPr>
          <p:cNvSpPr>
            <a:spLocks xmlns:a="http://schemas.openxmlformats.org/drawingml/2006/main" noGrp="1"/>
          </p:cNvSpPr>
          <p:nvPr/>
        </p:nvSpPr>
        <p:spPr>
          <a:xfrm xmlns:a="http://schemas.openxmlformats.org/drawingml/2006/main">
            <a:off x="725805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BEC73AA-0538-4C2C-92B3-324940CDD0DC}"/>
              </a:ext>
            </a:extLst>
          </p:cNvPr>
          <p:cNvSpPr>
            <a:spLocks xmlns:a="http://schemas.openxmlformats.org/drawingml/2006/main" noGrp="1"/>
          </p:cNvSpPr>
          <p:nvPr/>
        </p:nvSpPr>
        <p:spPr>
          <a:xfrm xmlns:a="http://schemas.openxmlformats.org/drawingml/2006/main">
            <a:off x="725805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PUBLISH</a:t>
            </a:r>
          </a:p>
        </p:txBody>
      </p:sp>
      <p:sp>
        <p:nvSpPr>
          <p:cNvPr id="28" name="">
            <a:extLst xmlns:a="http://schemas.openxmlformats.org/drawingml/2006/main">
              <a:ext uri="{FF2B5EF4-FFF2-40B4-BE49-F238E27FC236}">
                <a16:creationId xmlns:a16="http://schemas.microsoft.com/office/drawing/2014/main" id="{4F4D7011-1388-4EC0-9520-AA232108377B}"/>
              </a:ext>
            </a:extLst>
          </p:cNvPr>
          <p:cNvSpPr>
            <a:spLocks xmlns:a="http://schemas.openxmlformats.org/drawingml/2006/main" noGrp="1"/>
          </p:cNvSpPr>
          <p:nvPr/>
        </p:nvSpPr>
        <p:spPr>
          <a:xfrm xmlns:a="http://schemas.openxmlformats.org/drawingml/2006/main">
            <a:off x="725805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A verified community incident enters the shared map.</a:t>
            </a:r>
          </a:p>
        </p:txBody>
      </p:sp>
      <p:sp>
        <p:nvSpPr>
          <p:cNvPr id="29" name="">
            <a:extLst xmlns:a="http://schemas.openxmlformats.org/drawingml/2006/main">
              <a:ext uri="{FF2B5EF4-FFF2-40B4-BE49-F238E27FC236}">
                <a16:creationId xmlns:a16="http://schemas.microsoft.com/office/drawing/2014/main" id="{6BD82329-90F1-4632-8CB7-E472B2C2226F}"/>
              </a:ext>
            </a:extLst>
          </p:cNvPr>
          <p:cNvSpPr>
            <a:spLocks xmlns:a="http://schemas.openxmlformats.org/drawingml/2006/main" noGrp="1"/>
          </p:cNvSpPr>
          <p:nvPr/>
        </p:nvSpPr>
        <p:spPr>
          <a:xfrm xmlns:a="http://schemas.openxmlformats.org/drawingml/2006/main">
            <a:off x="9144000" y="3467100"/>
            <a:ext cx="17145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5B93C54-6CD2-4DD8-BB9B-54B98196FCBB}"/>
              </a:ext>
            </a:extLst>
          </p:cNvPr>
          <p:cNvSpPr>
            <a:spLocks xmlns:a="http://schemas.openxmlformats.org/drawingml/2006/main" noGrp="1"/>
          </p:cNvSpPr>
          <p:nvPr/>
        </p:nvSpPr>
        <p:spPr>
          <a:xfrm xmlns:a="http://schemas.openxmlformats.org/drawingml/2006/main">
            <a:off x="9296400" y="3409950"/>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513BE9F-4624-4BAA-BF37-73B06F657E43}"/>
              </a:ext>
            </a:extLst>
          </p:cNvPr>
          <p:cNvSpPr>
            <a:spLocks xmlns:a="http://schemas.openxmlformats.org/drawingml/2006/main" noGrp="1"/>
          </p:cNvSpPr>
          <p:nvPr/>
        </p:nvSpPr>
        <p:spPr>
          <a:xfrm xmlns:a="http://schemas.openxmlformats.org/drawingml/2006/main">
            <a:off x="9525000" y="30289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FF3B1F"/>
                </a:solidFill>
                <a:latin typeface="Bahnschrift"/>
                <a:ea typeface="Bahnschrift"/>
                <a:cs typeface="Bahnschrift"/>
              </a:defRPr>
            </a:pPr>
            <a:r>
              <a:rPr sz="1650" b="1" i="0">
                <a:solidFill>
                  <a:srgbClr val="FF3B1F"/>
                </a:solidFill>
                <a:latin typeface="Bahnschrift"/>
                <a:ea typeface="Bahnschrift"/>
                <a:cs typeface="Bahnschrift"/>
              </a:rPr>
              <a:t>05</a:t>
            </a:r>
          </a:p>
        </p:txBody>
      </p:sp>
      <p:sp>
        <p:nvSpPr>
          <p:cNvPr id="32" name="">
            <a:extLst xmlns:a="http://schemas.openxmlformats.org/drawingml/2006/main">
              <a:ext uri="{FF2B5EF4-FFF2-40B4-BE49-F238E27FC236}">
                <a16:creationId xmlns:a16="http://schemas.microsoft.com/office/drawing/2014/main" id="{AE3F25E3-C64B-4A83-B67E-11799052CFB4}"/>
              </a:ext>
            </a:extLst>
          </p:cNvPr>
          <p:cNvSpPr>
            <a:spLocks xmlns:a="http://schemas.openxmlformats.org/drawingml/2006/main" noGrp="1"/>
          </p:cNvSpPr>
          <p:nvPr/>
        </p:nvSpPr>
        <p:spPr>
          <a:xfrm xmlns:a="http://schemas.openxmlformats.org/drawingml/2006/main">
            <a:off x="9525000" y="3448050"/>
            <a:ext cx="1866900" cy="190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7533B25-F63A-492B-ADD1-4E3899419039}"/>
              </a:ext>
            </a:extLst>
          </p:cNvPr>
          <p:cNvSpPr>
            <a:spLocks xmlns:a="http://schemas.openxmlformats.org/drawingml/2006/main" noGrp="1"/>
          </p:cNvSpPr>
          <p:nvPr/>
        </p:nvSpPr>
        <p:spPr>
          <a:xfrm xmlns:a="http://schemas.openxmlformats.org/drawingml/2006/main">
            <a:off x="9525000" y="3695700"/>
            <a:ext cx="1866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PROTECT</a:t>
            </a:r>
          </a:p>
        </p:txBody>
      </p:sp>
      <p:sp>
        <p:nvSpPr>
          <p:cNvPr id="34" name="">
            <a:extLst xmlns:a="http://schemas.openxmlformats.org/drawingml/2006/main">
              <a:ext uri="{FF2B5EF4-FFF2-40B4-BE49-F238E27FC236}">
                <a16:creationId xmlns:a16="http://schemas.microsoft.com/office/drawing/2014/main" id="{C37436F0-4CCE-4511-8ADE-0495F84FF18C}"/>
              </a:ext>
            </a:extLst>
          </p:cNvPr>
          <p:cNvSpPr>
            <a:spLocks xmlns:a="http://schemas.openxmlformats.org/drawingml/2006/main" noGrp="1"/>
          </p:cNvSpPr>
          <p:nvPr/>
        </p:nvSpPr>
        <p:spPr>
          <a:xfrm xmlns:a="http://schemas.openxmlformats.org/drawingml/2006/main">
            <a:off x="9525000" y="4124325"/>
            <a:ext cx="1866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i="0">
                <a:solidFill>
                  <a:srgbClr val="191C1F"/>
                </a:solidFill>
                <a:latin typeface="Arial"/>
                <a:ea typeface="Arial"/>
                <a:cs typeface="Arial"/>
              </a:defRPr>
            </a:pPr>
            <a:r>
              <a:rPr sz="1275" b="0" i="0">
                <a:solidFill>
                  <a:srgbClr val="191C1F"/>
                </a:solidFill>
                <a:latin typeface="Arial"/>
                <a:ea typeface="Arial"/>
                <a:cs typeface="Arial"/>
              </a:rPr>
              <a:t>Nearby civilians receive the context and can open routes.</a:t>
            </a:r>
          </a:p>
        </p:txBody>
      </p:sp>
      <p:sp>
        <p:nvSpPr>
          <p:cNvPr id="35" name="">
            <a:extLst xmlns:a="http://schemas.openxmlformats.org/drawingml/2006/main">
              <a:ext uri="{FF2B5EF4-FFF2-40B4-BE49-F238E27FC236}">
                <a16:creationId xmlns:a16="http://schemas.microsoft.com/office/drawing/2014/main" id="{5389A46A-1B39-4FE0-BAD9-E4E91BCADD72}"/>
              </a:ext>
            </a:extLst>
          </p:cNvPr>
          <p:cNvSpPr>
            <a:spLocks xmlns:a="http://schemas.openxmlformats.org/drawingml/2006/main" noGrp="1"/>
          </p:cNvSpPr>
          <p:nvPr/>
        </p:nvSpPr>
        <p:spPr>
          <a:xfrm xmlns:a="http://schemas.openxmlformats.org/drawingml/2006/main">
            <a:off x="457200" y="5638800"/>
            <a:ext cx="11277600" cy="590550"/>
          </a:xfrm>
          <a:prstGeom xmlns:a="http://schemas.openxmlformats.org/drawingml/2006/main" prst="rect">
            <a:avLst/>
          </a:prstGeom>
          <a:solidFill xmlns:a="http://schemas.openxmlformats.org/drawingml/2006/main">
            <a:srgbClr val="0F111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FEA1112-6D70-4ED9-A9A3-F872907573B3}"/>
              </a:ext>
            </a:extLst>
          </p:cNvPr>
          <p:cNvSpPr>
            <a:spLocks xmlns:a="http://schemas.openxmlformats.org/drawingml/2006/main" noGrp="1"/>
          </p:cNvSpPr>
          <p:nvPr/>
        </p:nvSpPr>
        <p:spPr>
          <a:xfrm xmlns:a="http://schemas.openxmlformats.org/drawingml/2006/main">
            <a:off x="666750" y="58102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F1EEE9"/>
                </a:solidFill>
                <a:latin typeface="Arial"/>
                <a:ea typeface="Arial"/>
                <a:cs typeface="Arial"/>
              </a:defRPr>
            </a:pPr>
            <a:r>
              <a:rPr sz="1350" b="1" i="0">
                <a:solidFill>
                  <a:srgbClr val="F1EEE9"/>
                </a:solidFill>
                <a:latin typeface="Arial"/>
                <a:ea typeface="Arial"/>
                <a:cs typeface="Arial"/>
              </a:rPr>
              <a:t>Help requests remain gated by verified local hazard context; evidence is never promoted without human review.</a:t>
            </a:r>
          </a:p>
        </p:txBody>
      </p:sp>
    </p:spTree>
    <p:extLst>
      <p:ext uri="{BB962C8B-B14F-4D97-AF65-F5344CB8AC3E}">
        <p14:creationId xmlns:p14="http://schemas.microsoft.com/office/powerpoint/2010/main" val="1703216053"/>
      </p:ext>
    </p:extLst>
  </p:cSld>
</p:sld>
</file>

<file path=ppt/slides/slide8.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C97D8A-634C-4B26-A53A-210820610719}"/>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849C5C79-602F-45DD-82DE-6EF7A0E1B1A9}"/>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08</a:t>
            </a:r>
          </a:p>
        </p:txBody>
      </p:sp>
      <p:sp>
        <p:nvSpPr>
          <p:cNvPr id="3" name="">
            <a:extLst xmlns:a="http://schemas.openxmlformats.org/drawingml/2006/main">
              <a:ext uri="{FF2B5EF4-FFF2-40B4-BE49-F238E27FC236}">
                <a16:creationId xmlns:a16="http://schemas.microsoft.com/office/drawing/2014/main" id="{A30A3E57-A5E7-42B9-88AF-0AE463CC9F7F}"/>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7C5CAE-3EAF-4E35-95D7-2B2D64D4EFC1}"/>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OPERATOR COMMAND</a:t>
            </a:r>
          </a:p>
        </p:txBody>
      </p:sp>
      <p:sp>
        <p:nvSpPr>
          <p:cNvPr id="5" name="">
            <a:extLst xmlns:a="http://schemas.openxmlformats.org/drawingml/2006/main">
              <a:ext uri="{FF2B5EF4-FFF2-40B4-BE49-F238E27FC236}">
                <a16:creationId xmlns:a16="http://schemas.microsoft.com/office/drawing/2014/main" id="{2E9DB972-C716-4670-8C0A-6BF917429F5F}"/>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F30EFA7-DA8E-4B55-89F4-9E780265AF9C}"/>
              </a:ext>
            </a:extLst>
          </p:cNvPr>
          <p:cNvSpPr>
            <a:spLocks xmlns:a="http://schemas.openxmlformats.org/drawingml/2006/main" noGrp="1"/>
          </p:cNvSpPr>
          <p:nvPr/>
        </p:nvSpPr>
        <p:spPr>
          <a:xfrm xmlns:a="http://schemas.openxmlformats.org/drawingml/2006/main">
            <a:off x="457200" y="1219200"/>
            <a:ext cx="685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ONE INCIDENT CONTEXT ACROSS</a:t>
            </a:r>
          </a:p>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THE ENTIRE RESPONSE CHAIN.</a:t>
            </a:r>
          </a:p>
        </p:txBody>
      </p:sp>
      <p:sp>
        <p:nvSpPr>
          <p:cNvPr id="7" name="">
            <a:extLst xmlns:a="http://schemas.openxmlformats.org/drawingml/2006/main">
              <a:ext uri="{FF2B5EF4-FFF2-40B4-BE49-F238E27FC236}">
                <a16:creationId xmlns:a16="http://schemas.microsoft.com/office/drawing/2014/main" id="{F556E3B5-4595-4DCC-96B8-CE3C463A54EB}"/>
              </a:ext>
            </a:extLst>
          </p:cNvPr>
          <p:cNvSpPr>
            <a:spLocks xmlns:a="http://schemas.openxmlformats.org/drawingml/2006/main" noGrp="1"/>
          </p:cNvSpPr>
          <p:nvPr/>
        </p:nvSpPr>
        <p:spPr>
          <a:xfrm xmlns:a="http://schemas.openxmlformats.org/drawingml/2006/main">
            <a:off x="7810500" y="1323975"/>
            <a:ext cx="3619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77"/>
          </a:bodyPr>
          <a:lstStyle xmlns:a="http://schemas.openxmlformats.org/drawingml/2006/main"/>
          <a:p xmlns:a="http://schemas.openxmlformats.org/drawingml/2006/main">
            <a:pPr algn="l">
              <a:lnSpc>
                <a:spcPct val="110000"/>
              </a:lnSpc>
              <a:buNone/>
              <a:defRPr sz="1500" b="0" i="0">
                <a:solidFill>
                  <a:srgbClr val="AAB0B4"/>
                </a:solidFill>
                <a:latin typeface="Arial"/>
                <a:ea typeface="Arial"/>
                <a:cs typeface="Arial"/>
              </a:defRPr>
            </a:pPr>
            <a:r>
              <a:rPr sz="1500" b="0" i="0">
                <a:solidFill>
                  <a:srgbClr val="AAB0B4"/>
                </a:solidFill>
                <a:latin typeface="Arial"/>
                <a:ea typeface="Arial"/>
                <a:cs typeface="Arial"/>
              </a:rPr>
              <a:t>An active incident stays visible while operators move from hazards to people, assignments, resources and accountability.</a:t>
            </a:r>
          </a:p>
        </p:txBody>
      </p:sp>
      <p:sp>
        <p:nvSpPr>
          <p:cNvPr id="8" name="">
            <a:extLst xmlns:a="http://schemas.openxmlformats.org/drawingml/2006/main">
              <a:ext uri="{FF2B5EF4-FFF2-40B4-BE49-F238E27FC236}">
                <a16:creationId xmlns:a16="http://schemas.microsoft.com/office/drawing/2014/main" id="{048B7115-E4D6-49B4-B953-FBF723161747}"/>
              </a:ext>
            </a:extLst>
          </p:cNvPr>
          <p:cNvSpPr>
            <a:spLocks xmlns:a="http://schemas.openxmlformats.org/drawingml/2006/main" noGrp="1"/>
          </p:cNvSpPr>
          <p:nvPr/>
        </p:nvSpPr>
        <p:spPr>
          <a:xfrm xmlns:a="http://schemas.openxmlformats.org/drawingml/2006/main">
            <a:off x="438150" y="2552700"/>
            <a:ext cx="11315700" cy="37528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d707da5c224804"/>
          <a:srcRect xmlns:a="http://schemas.openxmlformats.org/drawingml/2006/main" l="0" t="20721" r="0" b="20721"/>
          <a:stretch xmlns:a="http://schemas.openxmlformats.org/drawingml/2006/main">
            <a:fillRect l="0" t="0" r="0" b="0"/>
          </a:stretch>
        </p:blipFill>
        <p:spPr>
          <a:xfrm xmlns:a="http://schemas.openxmlformats.org/drawingml/2006/main">
            <a:off x="457200" y="2571750"/>
            <a:ext cx="11277600" cy="3714750"/>
          </a:xfrm>
          <a:prstGeom xmlns:a="http://schemas.openxmlformats.org/drawingml/2006/main" prst="rect">
            <a:avLst/>
          </a:prstGeom>
        </p:spPr>
      </p:pic>
    </p:spTree>
    <p:extLst>
      <p:ext uri="{BB962C8B-B14F-4D97-AF65-F5344CB8AC3E}">
        <p14:creationId xmlns:p14="http://schemas.microsoft.com/office/powerpoint/2010/main" val="1828842882"/>
      </p:ext>
    </p:extLst>
  </p:cSld>
</p:sld>
</file>

<file path=ppt/slides/slide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683DFD1-502C-459D-94FA-7B5BB2A1E0B3}"/>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51ABB008-03BA-466F-BA8F-9E51AD3B1516}"/>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09</a:t>
            </a:r>
          </a:p>
        </p:txBody>
      </p:sp>
      <p:sp>
        <p:nvSpPr>
          <p:cNvPr id="3" name="">
            <a:extLst xmlns:a="http://schemas.openxmlformats.org/drawingml/2006/main">
              <a:ext uri="{FF2B5EF4-FFF2-40B4-BE49-F238E27FC236}">
                <a16:creationId xmlns:a16="http://schemas.microsoft.com/office/drawing/2014/main" id="{7892D7A0-44EE-444C-AFE6-0CFB5DFC6589}"/>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30A36B-ACAF-4DC4-9D2C-D95B17FDE899}"/>
              </a:ext>
            </a:extLst>
          </p:cNvPr>
          <p:cNvSpPr>
            <a:spLocks xmlns:a="http://schemas.openxmlformats.org/drawingml/2006/main" noGrp="1"/>
          </p:cNvSpPr>
          <p:nvPr/>
        </p:nvSpPr>
        <p:spPr>
          <a:xfrm xmlns:a="http://schemas.openxmlformats.org/drawingml/2006/main">
            <a:off x="438150" y="933450"/>
            <a:ext cx="6953250" cy="50101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efe7ef0763014419"/>
          <a:srcRect xmlns:a="http://schemas.openxmlformats.org/drawingml/2006/main" l="10884" t="0" r="10884" b="0"/>
          <a:stretch xmlns:a="http://schemas.openxmlformats.org/drawingml/2006/main">
            <a:fillRect l="0" t="0" r="0" b="0"/>
          </a:stretch>
        </p:blipFill>
        <p:spPr>
          <a:xfrm xmlns:a="http://schemas.openxmlformats.org/drawingml/2006/main">
            <a:off x="457200" y="952500"/>
            <a:ext cx="6915150" cy="4972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D398A5A-C50F-4BAA-99FE-4DC3883A1CF9}"/>
              </a:ext>
            </a:extLst>
          </p:cNvPr>
          <p:cNvSpPr>
            <a:spLocks xmlns:a="http://schemas.openxmlformats.org/drawingml/2006/main" noGrp="1"/>
          </p:cNvSpPr>
          <p:nvPr/>
        </p:nvSpPr>
        <p:spPr>
          <a:xfrm xmlns:a="http://schemas.openxmlformats.org/drawingml/2006/main">
            <a:off x="7791450" y="100965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PROTECT / FIELD OPERATIONS</a:t>
            </a:r>
          </a:p>
        </p:txBody>
      </p:sp>
      <p:sp>
        <p:nvSpPr>
          <p:cNvPr id="7" name="">
            <a:extLst xmlns:a="http://schemas.openxmlformats.org/drawingml/2006/main">
              <a:ext uri="{FF2B5EF4-FFF2-40B4-BE49-F238E27FC236}">
                <a16:creationId xmlns:a16="http://schemas.microsoft.com/office/drawing/2014/main" id="{CFF6D86C-75BB-4C17-87DD-4C1FD0497C58}"/>
              </a:ext>
            </a:extLst>
          </p:cNvPr>
          <p:cNvSpPr>
            <a:spLocks xmlns:a="http://schemas.openxmlformats.org/drawingml/2006/main" noGrp="1"/>
          </p:cNvSpPr>
          <p:nvPr/>
        </p:nvSpPr>
        <p:spPr>
          <a:xfrm xmlns:a="http://schemas.openxmlformats.org/drawingml/2006/main">
            <a:off x="7791450" y="125730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225D677-8A5A-4DFC-B384-81C02878058C}"/>
              </a:ext>
            </a:extLst>
          </p:cNvPr>
          <p:cNvSpPr>
            <a:spLocks xmlns:a="http://schemas.openxmlformats.org/drawingml/2006/main" noGrp="1"/>
          </p:cNvSpPr>
          <p:nvPr/>
        </p:nvSpPr>
        <p:spPr>
          <a:xfrm xmlns:a="http://schemas.openxmlformats.org/drawingml/2006/main">
            <a:off x="7791450" y="1428750"/>
            <a:ext cx="3429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SEE PEOPLE.</a:t>
            </a:r>
          </a:p>
          <a:p xmlns:a="http://schemas.openxmlformats.org/drawingml/2006/main">
            <a:pPr algn="l">
              <a:lnSpc>
                <a:spcPct val="90000"/>
              </a:lnSpc>
              <a:buNone/>
              <a:defRPr sz="2850" b="1" i="0">
                <a:solidFill>
                  <a:srgbClr val="0F1113"/>
                </a:solidFill>
                <a:latin typeface="Bahnschrift"/>
                <a:ea typeface="Bahnschrift"/>
                <a:cs typeface="Bahnschrift"/>
              </a:defRPr>
            </a:pPr>
            <a:r>
              <a:rPr sz="2850" b="1" i="0">
                <a:solidFill>
                  <a:srgbClr val="0F1113"/>
                </a:solidFill>
                <a:latin typeface="Bahnschrift"/>
                <a:ea typeface="Bahnschrift"/>
                <a:cs typeface="Bahnschrift"/>
              </a:rPr>
              <a:t>MOVE RESPONSE.</a:t>
            </a:r>
          </a:p>
        </p:txBody>
      </p:sp>
      <p:sp>
        <p:nvSpPr>
          <p:cNvPr id="9" name="">
            <a:extLst xmlns:a="http://schemas.openxmlformats.org/drawingml/2006/main">
              <a:ext uri="{FF2B5EF4-FFF2-40B4-BE49-F238E27FC236}">
                <a16:creationId xmlns:a16="http://schemas.microsoft.com/office/drawing/2014/main" id="{2866C044-1AA6-4422-B029-019880842DB7}"/>
              </a:ext>
            </a:extLst>
          </p:cNvPr>
          <p:cNvSpPr>
            <a:spLocks xmlns:a="http://schemas.openxmlformats.org/drawingml/2006/main" noGrp="1"/>
          </p:cNvSpPr>
          <p:nvPr/>
        </p:nvSpPr>
        <p:spPr>
          <a:xfrm xmlns:a="http://schemas.openxmlformats.org/drawingml/2006/main">
            <a:off x="7791450" y="26479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63B2EA8-CC8A-49B2-8D27-391A7C6A6A94}"/>
              </a:ext>
            </a:extLst>
          </p:cNvPr>
          <p:cNvSpPr>
            <a:spLocks xmlns:a="http://schemas.openxmlformats.org/drawingml/2006/main" noGrp="1"/>
          </p:cNvSpPr>
          <p:nvPr/>
        </p:nvSpPr>
        <p:spPr>
          <a:xfrm xmlns:a="http://schemas.openxmlformats.org/drawingml/2006/main">
            <a:off x="7791450" y="27622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PEOPLE + HAZARDS</a:t>
            </a:r>
          </a:p>
        </p:txBody>
      </p:sp>
      <p:sp>
        <p:nvSpPr>
          <p:cNvPr id="11" name="">
            <a:extLst xmlns:a="http://schemas.openxmlformats.org/drawingml/2006/main">
              <a:ext uri="{FF2B5EF4-FFF2-40B4-BE49-F238E27FC236}">
                <a16:creationId xmlns:a16="http://schemas.microsoft.com/office/drawing/2014/main" id="{3D3F7D70-786D-4298-BF2F-6817EC90B84B}"/>
              </a:ext>
            </a:extLst>
          </p:cNvPr>
          <p:cNvSpPr>
            <a:spLocks xmlns:a="http://schemas.openxmlformats.org/drawingml/2006/main" noGrp="1"/>
          </p:cNvSpPr>
          <p:nvPr/>
        </p:nvSpPr>
        <p:spPr>
          <a:xfrm xmlns:a="http://schemas.openxmlformats.org/drawingml/2006/main">
            <a:off x="9353550" y="27241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Consented civilian locations, verified events and reviewed evidence.</a:t>
            </a:r>
          </a:p>
        </p:txBody>
      </p:sp>
      <p:sp>
        <p:nvSpPr>
          <p:cNvPr id="12" name="">
            <a:extLst xmlns:a="http://schemas.openxmlformats.org/drawingml/2006/main">
              <a:ext uri="{FF2B5EF4-FFF2-40B4-BE49-F238E27FC236}">
                <a16:creationId xmlns:a16="http://schemas.microsoft.com/office/drawing/2014/main" id="{D2A54313-66D0-4C66-8792-5C60FFF1F7A0}"/>
              </a:ext>
            </a:extLst>
          </p:cNvPr>
          <p:cNvSpPr>
            <a:spLocks xmlns:a="http://schemas.openxmlformats.org/drawingml/2006/main" noGrp="1"/>
          </p:cNvSpPr>
          <p:nvPr/>
        </p:nvSpPr>
        <p:spPr>
          <a:xfrm xmlns:a="http://schemas.openxmlformats.org/drawingml/2006/main">
            <a:off x="7791450" y="33337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BB46600-8E49-440F-9CF5-1F7FDA6B24BC}"/>
              </a:ext>
            </a:extLst>
          </p:cNvPr>
          <p:cNvSpPr>
            <a:spLocks xmlns:a="http://schemas.openxmlformats.org/drawingml/2006/main" noGrp="1"/>
          </p:cNvSpPr>
          <p:nvPr/>
        </p:nvSpPr>
        <p:spPr>
          <a:xfrm xmlns:a="http://schemas.openxmlformats.org/drawingml/2006/main">
            <a:off x="7791450" y="34480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HELP QUEUE</a:t>
            </a:r>
          </a:p>
        </p:txBody>
      </p:sp>
      <p:sp>
        <p:nvSpPr>
          <p:cNvPr id="14" name="">
            <a:extLst xmlns:a="http://schemas.openxmlformats.org/drawingml/2006/main">
              <a:ext uri="{FF2B5EF4-FFF2-40B4-BE49-F238E27FC236}">
                <a16:creationId xmlns:a16="http://schemas.microsoft.com/office/drawing/2014/main" id="{733A51BF-C0F9-42D2-9EEA-7B39F75114CA}"/>
              </a:ext>
            </a:extLst>
          </p:cNvPr>
          <p:cNvSpPr>
            <a:spLocks xmlns:a="http://schemas.openxmlformats.org/drawingml/2006/main" noGrp="1"/>
          </p:cNvSpPr>
          <p:nvPr/>
        </p:nvSpPr>
        <p:spPr>
          <a:xfrm xmlns:a="http://schemas.openxmlformats.org/drawingml/2006/main">
            <a:off x="9353550" y="34099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Requests progress from verified to assigned, dispatched, on scene and resolved.</a:t>
            </a:r>
          </a:p>
        </p:txBody>
      </p:sp>
      <p:sp>
        <p:nvSpPr>
          <p:cNvPr id="15" name="">
            <a:extLst xmlns:a="http://schemas.openxmlformats.org/drawingml/2006/main">
              <a:ext uri="{FF2B5EF4-FFF2-40B4-BE49-F238E27FC236}">
                <a16:creationId xmlns:a16="http://schemas.microsoft.com/office/drawing/2014/main" id="{CF58F659-9DF2-4093-B0C2-C37D4265233F}"/>
              </a:ext>
            </a:extLst>
          </p:cNvPr>
          <p:cNvSpPr>
            <a:spLocks xmlns:a="http://schemas.openxmlformats.org/drawingml/2006/main" noGrp="1"/>
          </p:cNvSpPr>
          <p:nvPr/>
        </p:nvSpPr>
        <p:spPr>
          <a:xfrm xmlns:a="http://schemas.openxmlformats.org/drawingml/2006/main">
            <a:off x="7791450" y="40195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FBEAA9D-40BA-49A5-AF97-F6CA04A00042}"/>
              </a:ext>
            </a:extLst>
          </p:cNvPr>
          <p:cNvSpPr>
            <a:spLocks xmlns:a="http://schemas.openxmlformats.org/drawingml/2006/main" noGrp="1"/>
          </p:cNvSpPr>
          <p:nvPr/>
        </p:nvSpPr>
        <p:spPr>
          <a:xfrm xmlns:a="http://schemas.openxmlformats.org/drawingml/2006/main">
            <a:off x="7791450" y="41338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RESPONDER DISPATCH</a:t>
            </a:r>
          </a:p>
        </p:txBody>
      </p:sp>
      <p:sp>
        <p:nvSpPr>
          <p:cNvPr id="17" name="">
            <a:extLst xmlns:a="http://schemas.openxmlformats.org/drawingml/2006/main">
              <a:ext uri="{FF2B5EF4-FFF2-40B4-BE49-F238E27FC236}">
                <a16:creationId xmlns:a16="http://schemas.microsoft.com/office/drawing/2014/main" id="{462E8A1D-EB4F-465A-9C14-17EF09ADCA9E}"/>
              </a:ext>
            </a:extLst>
          </p:cNvPr>
          <p:cNvSpPr>
            <a:spLocks xmlns:a="http://schemas.openxmlformats.org/drawingml/2006/main" noGrp="1"/>
          </p:cNvSpPr>
          <p:nvPr/>
        </p:nvSpPr>
        <p:spPr>
          <a:xfrm xmlns:a="http://schemas.openxmlformats.org/drawingml/2006/main">
            <a:off x="9353550" y="40957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Role-checked assignments with acknowledgement and status transitions.</a:t>
            </a:r>
          </a:p>
        </p:txBody>
      </p:sp>
      <p:sp>
        <p:nvSpPr>
          <p:cNvPr id="18" name="">
            <a:extLst xmlns:a="http://schemas.openxmlformats.org/drawingml/2006/main">
              <a:ext uri="{FF2B5EF4-FFF2-40B4-BE49-F238E27FC236}">
                <a16:creationId xmlns:a16="http://schemas.microsoft.com/office/drawing/2014/main" id="{E84CEC19-6E6D-4B85-9BEE-5A7447824610}"/>
              </a:ext>
            </a:extLst>
          </p:cNvPr>
          <p:cNvSpPr>
            <a:spLocks xmlns:a="http://schemas.openxmlformats.org/drawingml/2006/main" noGrp="1"/>
          </p:cNvSpPr>
          <p:nvPr/>
        </p:nvSpPr>
        <p:spPr>
          <a:xfrm xmlns:a="http://schemas.openxmlformats.org/drawingml/2006/main">
            <a:off x="7791450" y="47053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C5F83E8-C5FC-46A3-B67D-EF5D68D28EAF}"/>
              </a:ext>
            </a:extLst>
          </p:cNvPr>
          <p:cNvSpPr>
            <a:spLocks xmlns:a="http://schemas.openxmlformats.org/drawingml/2006/main" noGrp="1"/>
          </p:cNvSpPr>
          <p:nvPr/>
        </p:nvSpPr>
        <p:spPr>
          <a:xfrm xmlns:a="http://schemas.openxmlformats.org/drawingml/2006/main">
            <a:off x="7791450" y="48196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561"/>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RESOURCE COORDINATION</a:t>
            </a:r>
          </a:p>
        </p:txBody>
      </p:sp>
      <p:sp>
        <p:nvSpPr>
          <p:cNvPr id="20" name="">
            <a:extLst xmlns:a="http://schemas.openxmlformats.org/drawingml/2006/main">
              <a:ext uri="{FF2B5EF4-FFF2-40B4-BE49-F238E27FC236}">
                <a16:creationId xmlns:a16="http://schemas.microsoft.com/office/drawing/2014/main" id="{3E9E7849-72AE-483B-81C7-34D496AE398E}"/>
              </a:ext>
            </a:extLst>
          </p:cNvPr>
          <p:cNvSpPr>
            <a:spLocks xmlns:a="http://schemas.openxmlformats.org/drawingml/2006/main" noGrp="1"/>
          </p:cNvSpPr>
          <p:nvPr/>
        </p:nvSpPr>
        <p:spPr>
          <a:xfrm xmlns:a="http://schemas.openxmlformats.org/drawingml/2006/main">
            <a:off x="9353550" y="47815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Allocate verified stock without exceeding available quantities.</a:t>
            </a:r>
          </a:p>
        </p:txBody>
      </p:sp>
      <p:sp>
        <p:nvSpPr>
          <p:cNvPr id="21" name="">
            <a:extLst xmlns:a="http://schemas.openxmlformats.org/drawingml/2006/main">
              <a:ext uri="{FF2B5EF4-FFF2-40B4-BE49-F238E27FC236}">
                <a16:creationId xmlns:a16="http://schemas.microsoft.com/office/drawing/2014/main" id="{1BE6DFC5-0D3D-421F-9005-F46E09B7EB0E}"/>
              </a:ext>
            </a:extLst>
          </p:cNvPr>
          <p:cNvSpPr>
            <a:spLocks xmlns:a="http://schemas.openxmlformats.org/drawingml/2006/main" noGrp="1"/>
          </p:cNvSpPr>
          <p:nvPr/>
        </p:nvSpPr>
        <p:spPr>
          <a:xfrm xmlns:a="http://schemas.openxmlformats.org/drawingml/2006/main">
            <a:off x="7791450" y="5391150"/>
            <a:ext cx="3429000" cy="9525"/>
          </a:xfrm>
          <a:prstGeom xmlns:a="http://schemas.openxmlformats.org/drawingml/2006/main" prst="rect">
            <a:avLst/>
          </a:prstGeom>
          <a:solidFill xmlns:a="http://schemas.openxmlformats.org/drawingml/2006/main">
            <a:srgbClr val="D9D5C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F61C3A8-AAF3-452D-9B1A-F3DF5AFAB966}"/>
              </a:ext>
            </a:extLst>
          </p:cNvPr>
          <p:cNvSpPr>
            <a:spLocks xmlns:a="http://schemas.openxmlformats.org/drawingml/2006/main" noGrp="1"/>
          </p:cNvSpPr>
          <p:nvPr/>
        </p:nvSpPr>
        <p:spPr>
          <a:xfrm xmlns:a="http://schemas.openxmlformats.org/drawingml/2006/main">
            <a:off x="7791450" y="550545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ROUTE MONITORING</a:t>
            </a:r>
          </a:p>
        </p:txBody>
      </p:sp>
      <p:sp>
        <p:nvSpPr>
          <p:cNvPr id="23" name="">
            <a:extLst xmlns:a="http://schemas.openxmlformats.org/drawingml/2006/main">
              <a:ext uri="{FF2B5EF4-FFF2-40B4-BE49-F238E27FC236}">
                <a16:creationId xmlns:a16="http://schemas.microsoft.com/office/drawing/2014/main" id="{7D10567E-94AC-46FB-BA1B-777D9BCAFDF7}"/>
              </a:ext>
            </a:extLst>
          </p:cNvPr>
          <p:cNvSpPr>
            <a:spLocks xmlns:a="http://schemas.openxmlformats.org/drawingml/2006/main" noGrp="1"/>
          </p:cNvSpPr>
          <p:nvPr/>
        </p:nvSpPr>
        <p:spPr>
          <a:xfrm xmlns:a="http://schemas.openxmlformats.org/drawingml/2006/main">
            <a:off x="9353550" y="5467350"/>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183"/>
          </a:bodyPr>
          <a:lstStyle xmlns:a="http://schemas.openxmlformats.org/drawingml/2006/main"/>
          <a:p xmlns:a="http://schemas.openxmlformats.org/drawingml/2006/main">
            <a:pPr algn="l">
              <a:lnSpc>
                <a:spcPct val="105000"/>
              </a:lnSpc>
              <a:buNone/>
              <a:defRPr sz="1125" b="0" i="0">
                <a:solidFill>
                  <a:srgbClr val="191C1F"/>
                </a:solidFill>
                <a:latin typeface="Arial"/>
                <a:ea typeface="Arial"/>
                <a:cs typeface="Arial"/>
              </a:defRPr>
            </a:pPr>
            <a:r>
              <a:rPr sz="1125" b="0" i="0">
                <a:solidFill>
                  <a:srgbClr val="191C1F"/>
                </a:solidFill>
                <a:latin typeface="Arial"/>
                <a:ea typeface="Arial"/>
                <a:cs typeface="Arial"/>
              </a:rPr>
              <a:t>Surface hazards and trusted restrictions that intersect active routes.</a:t>
            </a:r>
          </a:p>
        </p:txBody>
      </p:sp>
    </p:spTree>
    <p:extLst>
      <p:ext uri="{BB962C8B-B14F-4D97-AF65-F5344CB8AC3E}">
        <p14:creationId xmlns:p14="http://schemas.microsoft.com/office/powerpoint/2010/main" val="1552062631"/>
      </p:ext>
    </p:extLst>
  </p:cSld>
</p:sld>
</file>

<file path=ppt/slides/slide10.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A44149D-7319-4619-BC28-285AAC927D69}"/>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D838F899-F81B-4192-97BB-862418BE9DE1}"/>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10</a:t>
            </a:r>
          </a:p>
        </p:txBody>
      </p:sp>
      <p:sp>
        <p:nvSpPr>
          <p:cNvPr id="3" name="">
            <a:extLst xmlns:a="http://schemas.openxmlformats.org/drawingml/2006/main">
              <a:ext uri="{FF2B5EF4-FFF2-40B4-BE49-F238E27FC236}">
                <a16:creationId xmlns:a16="http://schemas.microsoft.com/office/drawing/2014/main" id="{D4121E23-4A64-467B-AF0C-8D11341439D9}"/>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A86A91C-C1A8-444D-A4D7-6B07DEC3E45B}"/>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COMMAND + ACCOUNTABILITY</a:t>
            </a:r>
          </a:p>
        </p:txBody>
      </p:sp>
      <p:sp>
        <p:nvSpPr>
          <p:cNvPr id="5" name="">
            <a:extLst xmlns:a="http://schemas.openxmlformats.org/drawingml/2006/main">
              <a:ext uri="{FF2B5EF4-FFF2-40B4-BE49-F238E27FC236}">
                <a16:creationId xmlns:a16="http://schemas.microsoft.com/office/drawing/2014/main" id="{B24996EA-0C27-4799-BFE0-E35FC33FC396}"/>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34A85C-AE39-4D7C-B361-9271E9615E21}"/>
              </a:ext>
            </a:extLst>
          </p:cNvPr>
          <p:cNvSpPr>
            <a:spLocks xmlns:a="http://schemas.openxmlformats.org/drawingml/2006/main" noGrp="1"/>
          </p:cNvSpPr>
          <p:nvPr/>
        </p:nvSpPr>
        <p:spPr>
          <a:xfrm xmlns:a="http://schemas.openxmlformats.org/drawingml/2006/main">
            <a:off x="457200" y="1200150"/>
            <a:ext cx="8572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2925" b="1" i="0">
                <a:solidFill>
                  <a:srgbClr val="F1EEE9"/>
                </a:solidFill>
                <a:latin typeface="Bahnschrift"/>
                <a:ea typeface="Bahnschrift"/>
                <a:cs typeface="Bahnschrift"/>
              </a:defRPr>
            </a:pPr>
            <a:r>
              <a:rPr sz="2925" b="1" i="0">
                <a:solidFill>
                  <a:srgbClr val="F1EEE9"/>
                </a:solidFill>
                <a:latin typeface="Bahnschrift"/>
                <a:ea typeface="Bahnschrift"/>
                <a:cs typeface="Bahnschrift"/>
              </a:rPr>
              <a:t>EVERY DECISION KEEPS ITS CONTEXT—</a:t>
            </a:r>
          </a:p>
          <a:p xmlns:a="http://schemas.openxmlformats.org/drawingml/2006/main">
            <a:pPr algn="l">
              <a:lnSpc>
                <a:spcPct val="92000"/>
              </a:lnSpc>
              <a:buNone/>
              <a:defRPr sz="2925" b="1" i="0">
                <a:solidFill>
                  <a:srgbClr val="F1EEE9"/>
                </a:solidFill>
                <a:latin typeface="Bahnschrift"/>
                <a:ea typeface="Bahnschrift"/>
                <a:cs typeface="Bahnschrift"/>
              </a:defRPr>
            </a:pPr>
            <a:r>
              <a:rPr sz="2925" b="1" i="0">
                <a:solidFill>
                  <a:srgbClr val="F1EEE9"/>
                </a:solidFill>
                <a:latin typeface="Bahnschrift"/>
                <a:ea typeface="Bahnschrift"/>
                <a:cs typeface="Bahnschrift"/>
              </a:rPr>
              <a:t>AND ITS HISTORY.</a:t>
            </a:r>
          </a:p>
        </p:txBody>
      </p:sp>
      <p:sp>
        <p:nvSpPr>
          <p:cNvPr id="7" name="">
            <a:extLst xmlns:a="http://schemas.openxmlformats.org/drawingml/2006/main">
              <a:ext uri="{FF2B5EF4-FFF2-40B4-BE49-F238E27FC236}">
                <a16:creationId xmlns:a16="http://schemas.microsoft.com/office/drawing/2014/main" id="{48CA7368-609E-4D0B-9A1C-DF90BA6B7EBC}"/>
              </a:ext>
            </a:extLst>
          </p:cNvPr>
          <p:cNvSpPr>
            <a:spLocks xmlns:a="http://schemas.openxmlformats.org/drawingml/2006/main" noGrp="1"/>
          </p:cNvSpPr>
          <p:nvPr/>
        </p:nvSpPr>
        <p:spPr>
          <a:xfrm xmlns:a="http://schemas.openxmlformats.org/drawingml/2006/main">
            <a:off x="438150" y="2495550"/>
            <a:ext cx="5448300" cy="308610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555635d27db4598"/>
          <a:srcRect xmlns:a="http://schemas.openxmlformats.org/drawingml/2006/main" l="78" t="0" r="78" b="0"/>
          <a:stretch xmlns:a="http://schemas.openxmlformats.org/drawingml/2006/main">
            <a:fillRect l="0" t="0" r="0" b="0"/>
          </a:stretch>
        </p:blipFill>
        <p:spPr>
          <a:xfrm xmlns:a="http://schemas.openxmlformats.org/drawingml/2006/main">
            <a:off x="457200" y="2514600"/>
            <a:ext cx="5410200" cy="304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6C750BE-7226-4227-B49C-A370BD1699CC}"/>
              </a:ext>
            </a:extLst>
          </p:cNvPr>
          <p:cNvSpPr>
            <a:spLocks xmlns:a="http://schemas.openxmlformats.org/drawingml/2006/main" noGrp="1"/>
          </p:cNvSpPr>
          <p:nvPr/>
        </p:nvSpPr>
        <p:spPr>
          <a:xfrm xmlns:a="http://schemas.openxmlformats.org/drawingml/2006/main">
            <a:off x="6305550" y="2495550"/>
            <a:ext cx="5448300" cy="308610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2fa9c2b55784762"/>
          <a:srcRect xmlns:a="http://schemas.openxmlformats.org/drawingml/2006/main" l="78" t="0" r="78" b="0"/>
          <a:stretch xmlns:a="http://schemas.openxmlformats.org/drawingml/2006/main">
            <a:fillRect l="0" t="0" r="0" b="0"/>
          </a:stretch>
        </p:blipFill>
        <p:spPr>
          <a:xfrm xmlns:a="http://schemas.openxmlformats.org/drawingml/2006/main">
            <a:off x="6324600" y="2514600"/>
            <a:ext cx="5410200" cy="304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D8AB725-E70F-4A29-9A6E-15CD60B8B3B9}"/>
              </a:ext>
            </a:extLst>
          </p:cNvPr>
          <p:cNvSpPr>
            <a:spLocks xmlns:a="http://schemas.openxmlformats.org/drawingml/2006/main" noGrp="1"/>
          </p:cNvSpPr>
          <p:nvPr/>
        </p:nvSpPr>
        <p:spPr>
          <a:xfrm xmlns:a="http://schemas.openxmlformats.org/drawingml/2006/main">
            <a:off x="457200" y="5753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INCIDENT CONTEXT</a:t>
            </a:r>
          </a:p>
        </p:txBody>
      </p:sp>
      <p:sp>
        <p:nvSpPr>
          <p:cNvPr id="12" name="">
            <a:extLst xmlns:a="http://schemas.openxmlformats.org/drawingml/2006/main">
              <a:ext uri="{FF2B5EF4-FFF2-40B4-BE49-F238E27FC236}">
                <a16:creationId xmlns:a16="http://schemas.microsoft.com/office/drawing/2014/main" id="{8D96A748-6AE6-4633-AC43-8D2ABCB9D2FF}"/>
              </a:ext>
            </a:extLst>
          </p:cNvPr>
          <p:cNvSpPr>
            <a:spLocks xmlns:a="http://schemas.openxmlformats.org/drawingml/2006/main" noGrp="1"/>
          </p:cNvSpPr>
          <p:nvPr/>
        </p:nvSpPr>
        <p:spPr>
          <a:xfrm xmlns:a="http://schemas.openxmlformats.org/drawingml/2006/main">
            <a:off x="6324600" y="57531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AUDIT TRAIL</a:t>
            </a:r>
          </a:p>
        </p:txBody>
      </p:sp>
      <p:sp>
        <p:nvSpPr>
          <p:cNvPr id="13" name="">
            <a:extLst xmlns:a="http://schemas.openxmlformats.org/drawingml/2006/main">
              <a:ext uri="{FF2B5EF4-FFF2-40B4-BE49-F238E27FC236}">
                <a16:creationId xmlns:a16="http://schemas.microsoft.com/office/drawing/2014/main" id="{AC89B44F-B503-41AD-9011-5E45E5DBA078}"/>
              </a:ext>
            </a:extLst>
          </p:cNvPr>
          <p:cNvSpPr>
            <a:spLocks xmlns:a="http://schemas.openxmlformats.org/drawingml/2006/main" noGrp="1"/>
          </p:cNvSpPr>
          <p:nvPr/>
        </p:nvSpPr>
        <p:spPr>
          <a:xfrm xmlns:a="http://schemas.openxmlformats.org/drawingml/2006/main">
            <a:off x="457200" y="6076950"/>
            <a:ext cx="533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Name · type · geography · severity · phase · lead · linked records</a:t>
            </a:r>
          </a:p>
        </p:txBody>
      </p:sp>
      <p:sp>
        <p:nvSpPr>
          <p:cNvPr id="14" name="">
            <a:extLst xmlns:a="http://schemas.openxmlformats.org/drawingml/2006/main">
              <a:ext uri="{FF2B5EF4-FFF2-40B4-BE49-F238E27FC236}">
                <a16:creationId xmlns:a16="http://schemas.microsoft.com/office/drawing/2014/main" id="{C83A14BB-D81F-417A-860B-97110ABD1B4D}"/>
              </a:ext>
            </a:extLst>
          </p:cNvPr>
          <p:cNvSpPr>
            <a:spLocks xmlns:a="http://schemas.openxmlformats.org/drawingml/2006/main" noGrp="1"/>
          </p:cNvSpPr>
          <p:nvPr/>
        </p:nvSpPr>
        <p:spPr>
          <a:xfrm xmlns:a="http://schemas.openxmlformats.org/drawingml/2006/main">
            <a:off x="6324600" y="6076950"/>
            <a:ext cx="5410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System · civilian · responder · operator actions with before/after state</a:t>
            </a:r>
          </a:p>
        </p:txBody>
      </p:sp>
    </p:spTree>
    <p:extLst>
      <p:ext uri="{BB962C8B-B14F-4D97-AF65-F5344CB8AC3E}">
        <p14:creationId xmlns:p14="http://schemas.microsoft.com/office/powerpoint/2010/main" val="422211409"/>
      </p:ext>
    </p:extLst>
  </p:cSld>
</p:sld>
</file>

<file path=ppt/slides/slide1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6F09D53-1107-438C-8FDE-F14A86A5BDD8}"/>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6D7A5BBB-FF31-4B61-B395-D9D855AB4F6A}"/>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11</a:t>
            </a:r>
          </a:p>
        </p:txBody>
      </p:sp>
      <p:sp>
        <p:nvSpPr>
          <p:cNvPr id="3" name="">
            <a:extLst xmlns:a="http://schemas.openxmlformats.org/drawingml/2006/main">
              <a:ext uri="{FF2B5EF4-FFF2-40B4-BE49-F238E27FC236}">
                <a16:creationId xmlns:a16="http://schemas.microsoft.com/office/drawing/2014/main" id="{5470E982-70C1-4FD6-BC71-E22629886916}"/>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50968E4-C6AB-48A2-BB69-6A361EC8EFF1}"/>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SHARED INTELLIGENCE</a:t>
            </a:r>
          </a:p>
        </p:txBody>
      </p:sp>
      <p:sp>
        <p:nvSpPr>
          <p:cNvPr id="5" name="">
            <a:extLst xmlns:a="http://schemas.openxmlformats.org/drawingml/2006/main">
              <a:ext uri="{FF2B5EF4-FFF2-40B4-BE49-F238E27FC236}">
                <a16:creationId xmlns:a16="http://schemas.microsoft.com/office/drawing/2014/main" id="{9FBC04BD-F92F-42F3-945C-D067518B5527}"/>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6C334BE-B6A9-433F-A0EE-646FA9B0FB0C}"/>
              </a:ext>
            </a:extLst>
          </p:cNvPr>
          <p:cNvSpPr>
            <a:spLocks xmlns:a="http://schemas.openxmlformats.org/drawingml/2006/main" noGrp="1"/>
          </p:cNvSpPr>
          <p:nvPr/>
        </p:nvSpPr>
        <p:spPr>
          <a:xfrm xmlns:a="http://schemas.openxmlformats.org/drawingml/2006/main">
            <a:off x="457200" y="1238250"/>
            <a:ext cx="3810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FILTER THE WORLD</a:t>
            </a:r>
          </a:p>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DOWN TO A PLACE.</a:t>
            </a:r>
          </a:p>
        </p:txBody>
      </p:sp>
      <p:sp>
        <p:nvSpPr>
          <p:cNvPr id="7" name="">
            <a:extLst xmlns:a="http://schemas.openxmlformats.org/drawingml/2006/main">
              <a:ext uri="{FF2B5EF4-FFF2-40B4-BE49-F238E27FC236}">
                <a16:creationId xmlns:a16="http://schemas.microsoft.com/office/drawing/2014/main" id="{E9CF440F-5691-4248-B171-49F0A5F1C080}"/>
              </a:ext>
            </a:extLst>
          </p:cNvPr>
          <p:cNvSpPr>
            <a:spLocks xmlns:a="http://schemas.openxmlformats.org/drawingml/2006/main" noGrp="1"/>
          </p:cNvSpPr>
          <p:nvPr/>
        </p:nvSpPr>
        <p:spPr>
          <a:xfrm xmlns:a="http://schemas.openxmlformats.org/drawingml/2006/main">
            <a:off x="457200" y="2381250"/>
            <a:ext cx="3810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812"/>
          </a:bodyPr>
          <a:lstStyle xmlns:a="http://schemas.openxmlformats.org/drawingml/2006/main"/>
          <a:p xmlns:a="http://schemas.openxmlformats.org/drawingml/2006/main">
            <a:pPr algn="l">
              <a:lnSpc>
                <a:spcPct val="112000"/>
              </a:lnSpc>
              <a:buNone/>
              <a:defRPr sz="1575" b="0" i="0">
                <a:solidFill>
                  <a:srgbClr val="191C1F"/>
                </a:solidFill>
                <a:latin typeface="Arial"/>
                <a:ea typeface="Arial"/>
                <a:cs typeface="Arial"/>
              </a:defRPr>
            </a:pPr>
            <a:r>
              <a:rPr sz="1575" b="0" i="0">
                <a:solidFill>
                  <a:srgbClr val="191C1F"/>
                </a:solidFill>
                <a:latin typeface="Arial"/>
                <a:ea typeface="Arial"/>
                <a:cs typeface="Arial"/>
              </a:rPr>
              <a:t>Both civilians and operators can inspect location-specific analytics, event types, source coverage, timelines and reporting context.</a:t>
            </a:r>
          </a:p>
        </p:txBody>
      </p:sp>
      <p:sp>
        <p:nvSpPr>
          <p:cNvPr id="8" name="">
            <a:extLst xmlns:a="http://schemas.openxmlformats.org/drawingml/2006/main">
              <a:ext uri="{FF2B5EF4-FFF2-40B4-BE49-F238E27FC236}">
                <a16:creationId xmlns:a16="http://schemas.microsoft.com/office/drawing/2014/main" id="{93202C24-4A3B-4EFB-A3C6-2BCF3561D393}"/>
              </a:ext>
            </a:extLst>
          </p:cNvPr>
          <p:cNvSpPr>
            <a:spLocks xmlns:a="http://schemas.openxmlformats.org/drawingml/2006/main" noGrp="1"/>
          </p:cNvSpPr>
          <p:nvPr/>
        </p:nvSpPr>
        <p:spPr>
          <a:xfrm xmlns:a="http://schemas.openxmlformats.org/drawingml/2006/main">
            <a:off x="457200" y="38576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ANALYTICS</a:t>
            </a:r>
          </a:p>
        </p:txBody>
      </p:sp>
      <p:sp>
        <p:nvSpPr>
          <p:cNvPr id="9" name="">
            <a:extLst xmlns:a="http://schemas.openxmlformats.org/drawingml/2006/main">
              <a:ext uri="{FF2B5EF4-FFF2-40B4-BE49-F238E27FC236}">
                <a16:creationId xmlns:a16="http://schemas.microsoft.com/office/drawing/2014/main" id="{4BF3CBF6-95EB-4C5E-8063-8F2906552A3C}"/>
              </a:ext>
            </a:extLst>
          </p:cNvPr>
          <p:cNvSpPr>
            <a:spLocks xmlns:a="http://schemas.openxmlformats.org/drawingml/2006/main" noGrp="1"/>
          </p:cNvSpPr>
          <p:nvPr/>
        </p:nvSpPr>
        <p:spPr>
          <a:xfrm xmlns:a="http://schemas.openxmlformats.org/drawingml/2006/main">
            <a:off x="1733550" y="38385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Country, city or area filters over the same live event records.</a:t>
            </a:r>
          </a:p>
        </p:txBody>
      </p:sp>
      <p:sp>
        <p:nvSpPr>
          <p:cNvPr id="10" name="">
            <a:extLst xmlns:a="http://schemas.openxmlformats.org/drawingml/2006/main">
              <a:ext uri="{FF2B5EF4-FFF2-40B4-BE49-F238E27FC236}">
                <a16:creationId xmlns:a16="http://schemas.microsoft.com/office/drawing/2014/main" id="{5431C16B-DD29-461D-90A3-848999E4B07F}"/>
              </a:ext>
            </a:extLst>
          </p:cNvPr>
          <p:cNvSpPr>
            <a:spLocks xmlns:a="http://schemas.openxmlformats.org/drawingml/2006/main" noGrp="1"/>
          </p:cNvSpPr>
          <p:nvPr/>
        </p:nvSpPr>
        <p:spPr>
          <a:xfrm xmlns:a="http://schemas.openxmlformats.org/drawingml/2006/main">
            <a:off x="457200" y="43529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F038BF-C38D-4975-B15A-42BF804E381C}"/>
              </a:ext>
            </a:extLst>
          </p:cNvPr>
          <p:cNvSpPr>
            <a:spLocks xmlns:a="http://schemas.openxmlformats.org/drawingml/2006/main" noGrp="1"/>
          </p:cNvSpPr>
          <p:nvPr/>
        </p:nvSpPr>
        <p:spPr>
          <a:xfrm xmlns:a="http://schemas.openxmlformats.org/drawingml/2006/main">
            <a:off x="457200" y="45434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EVENT LEDGER</a:t>
            </a:r>
          </a:p>
        </p:txBody>
      </p:sp>
      <p:sp>
        <p:nvSpPr>
          <p:cNvPr id="12" name="">
            <a:extLst xmlns:a="http://schemas.openxmlformats.org/drawingml/2006/main">
              <a:ext uri="{FF2B5EF4-FFF2-40B4-BE49-F238E27FC236}">
                <a16:creationId xmlns:a16="http://schemas.microsoft.com/office/drawing/2014/main" id="{00CFC8B4-43FA-4F0E-8CF7-3958B4FE0EA9}"/>
              </a:ext>
            </a:extLst>
          </p:cNvPr>
          <p:cNvSpPr>
            <a:spLocks xmlns:a="http://schemas.openxmlformats.org/drawingml/2006/main" noGrp="1"/>
          </p:cNvSpPr>
          <p:nvPr/>
        </p:nvSpPr>
        <p:spPr>
          <a:xfrm xmlns:a="http://schemas.openxmlformats.org/drawingml/2006/main">
            <a:off x="1733550" y="45243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Traceable source records with timestamps and status.</a:t>
            </a:r>
          </a:p>
        </p:txBody>
      </p:sp>
      <p:sp>
        <p:nvSpPr>
          <p:cNvPr id="13" name="">
            <a:extLst xmlns:a="http://schemas.openxmlformats.org/drawingml/2006/main">
              <a:ext uri="{FF2B5EF4-FFF2-40B4-BE49-F238E27FC236}">
                <a16:creationId xmlns:a16="http://schemas.microsoft.com/office/drawing/2014/main" id="{AD92C8BA-0C9C-479A-A657-57F05BDD50C5}"/>
              </a:ext>
            </a:extLst>
          </p:cNvPr>
          <p:cNvSpPr>
            <a:spLocks xmlns:a="http://schemas.openxmlformats.org/drawingml/2006/main" noGrp="1"/>
          </p:cNvSpPr>
          <p:nvPr/>
        </p:nvSpPr>
        <p:spPr>
          <a:xfrm xmlns:a="http://schemas.openxmlformats.org/drawingml/2006/main">
            <a:off x="457200" y="50387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2567FA3-058E-4284-91D8-191FE6D9A0DD}"/>
              </a:ext>
            </a:extLst>
          </p:cNvPr>
          <p:cNvSpPr>
            <a:spLocks xmlns:a="http://schemas.openxmlformats.org/drawingml/2006/main" noGrp="1"/>
          </p:cNvSpPr>
          <p:nvPr/>
        </p:nvSpPr>
        <p:spPr>
          <a:xfrm xmlns:a="http://schemas.openxmlformats.org/drawingml/2006/main">
            <a:off x="457200" y="5229225"/>
            <a:ext cx="1219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A52210"/>
                </a:solidFill>
                <a:latin typeface="Bahnschrift"/>
                <a:ea typeface="Bahnschrift"/>
                <a:cs typeface="Bahnschrift"/>
              </a:defRPr>
            </a:pPr>
            <a:r>
              <a:rPr sz="1050" b="1" i="0">
                <a:solidFill>
                  <a:srgbClr val="A52210"/>
                </a:solidFill>
                <a:latin typeface="Bahnschrift"/>
                <a:ea typeface="Bahnschrift"/>
                <a:cs typeface="Bahnschrift"/>
              </a:rPr>
              <a:t>NEWS CONTEXT</a:t>
            </a:r>
          </a:p>
        </p:txBody>
      </p:sp>
      <p:sp>
        <p:nvSpPr>
          <p:cNvPr id="15" name="">
            <a:extLst xmlns:a="http://schemas.openxmlformats.org/drawingml/2006/main">
              <a:ext uri="{FF2B5EF4-FFF2-40B4-BE49-F238E27FC236}">
                <a16:creationId xmlns:a16="http://schemas.microsoft.com/office/drawing/2014/main" id="{A30A8157-6577-46B2-905E-317C7478D9D1}"/>
              </a:ext>
            </a:extLst>
          </p:cNvPr>
          <p:cNvSpPr>
            <a:spLocks xmlns:a="http://schemas.openxmlformats.org/drawingml/2006/main" noGrp="1"/>
          </p:cNvSpPr>
          <p:nvPr/>
        </p:nvSpPr>
        <p:spPr>
          <a:xfrm xmlns:a="http://schemas.openxmlformats.org/drawingml/2006/main">
            <a:off x="1733550" y="5210175"/>
            <a:ext cx="257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191C1F"/>
                </a:solidFill>
                <a:latin typeface="Arial"/>
                <a:ea typeface="Arial"/>
                <a:cs typeface="Arial"/>
              </a:defRPr>
            </a:pPr>
            <a:r>
              <a:rPr sz="1200" b="0" i="0">
                <a:solidFill>
                  <a:srgbClr val="191C1F"/>
                </a:solidFill>
                <a:latin typeface="Arial"/>
                <a:ea typeface="Arial"/>
                <a:cs typeface="Arial"/>
              </a:rPr>
              <a:t>Reporting is visually separated from verified agency data.</a:t>
            </a:r>
          </a:p>
        </p:txBody>
      </p:sp>
      <p:sp>
        <p:nvSpPr>
          <p:cNvPr id="16" name="">
            <a:extLst xmlns:a="http://schemas.openxmlformats.org/drawingml/2006/main">
              <a:ext uri="{FF2B5EF4-FFF2-40B4-BE49-F238E27FC236}">
                <a16:creationId xmlns:a16="http://schemas.microsoft.com/office/drawing/2014/main" id="{532447F9-F5A6-427D-94EE-DEC0057210E6}"/>
              </a:ext>
            </a:extLst>
          </p:cNvPr>
          <p:cNvSpPr>
            <a:spLocks xmlns:a="http://schemas.openxmlformats.org/drawingml/2006/main" noGrp="1"/>
          </p:cNvSpPr>
          <p:nvPr/>
        </p:nvSpPr>
        <p:spPr>
          <a:xfrm xmlns:a="http://schemas.openxmlformats.org/drawingml/2006/main">
            <a:off x="457200" y="5724525"/>
            <a:ext cx="38100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8F4CB08-E2BD-4718-84CE-BD00022146F6}"/>
              </a:ext>
            </a:extLst>
          </p:cNvPr>
          <p:cNvSpPr>
            <a:spLocks xmlns:a="http://schemas.openxmlformats.org/drawingml/2006/main" noGrp="1"/>
          </p:cNvSpPr>
          <p:nvPr/>
        </p:nvSpPr>
        <p:spPr>
          <a:xfrm xmlns:a="http://schemas.openxmlformats.org/drawingml/2006/main">
            <a:off x="4743450" y="942975"/>
            <a:ext cx="7010400" cy="5000625"/>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e961b3e02e64203"/>
          <a:srcRect xmlns:a="http://schemas.openxmlformats.org/drawingml/2006/main" l="10485" t="0" r="10485" b="0"/>
          <a:stretch xmlns:a="http://schemas.openxmlformats.org/drawingml/2006/main">
            <a:fillRect l="0" t="0" r="0" b="0"/>
          </a:stretch>
        </p:blipFill>
        <p:spPr>
          <a:xfrm xmlns:a="http://schemas.openxmlformats.org/drawingml/2006/main">
            <a:off x="4762500" y="962025"/>
            <a:ext cx="6972300" cy="4962525"/>
          </a:xfrm>
          <a:prstGeom xmlns:a="http://schemas.openxmlformats.org/drawingml/2006/main" prst="rect">
            <a:avLst/>
          </a:prstGeom>
        </p:spPr>
      </p:pic>
    </p:spTree>
    <p:extLst>
      <p:ext uri="{BB962C8B-B14F-4D97-AF65-F5344CB8AC3E}">
        <p14:creationId xmlns:p14="http://schemas.microsoft.com/office/powerpoint/2010/main" val="2123776629"/>
      </p:ext>
    </p:extLst>
  </p:cSld>
</p:sld>
</file>

<file path=ppt/slides/slide12.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059606D-50B5-4078-BF5F-4EB7EE89A2D3}"/>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F1EEE9"/>
                </a:solidFill>
                <a:latin typeface="Bahnschrift"/>
                <a:ea typeface="Bahnschrift"/>
                <a:cs typeface="Bahnschrift"/>
              </a:defRPr>
            </a:pPr>
            <a:r>
              <a:rPr sz="1050" b="1" i="0">
                <a:solidFill>
                  <a:srgbClr val="F1EEE9"/>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22D1E1F3-4A8E-4E0A-A40E-050B0BB2F9CA}"/>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12</a:t>
            </a:r>
          </a:p>
        </p:txBody>
      </p:sp>
      <p:sp>
        <p:nvSpPr>
          <p:cNvPr id="3" name="">
            <a:extLst xmlns:a="http://schemas.openxmlformats.org/drawingml/2006/main">
              <a:ext uri="{FF2B5EF4-FFF2-40B4-BE49-F238E27FC236}">
                <a16:creationId xmlns:a16="http://schemas.microsoft.com/office/drawing/2014/main" id="{B299EB43-C365-44BF-973D-B957313CBAD4}"/>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3E073A-A9E6-43CF-A9C3-725CECE5105E}"/>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TEST / INFRASTRUCTURE SIMULATION</a:t>
            </a:r>
          </a:p>
        </p:txBody>
      </p:sp>
      <p:sp>
        <p:nvSpPr>
          <p:cNvPr id="5" name="">
            <a:extLst xmlns:a="http://schemas.openxmlformats.org/drawingml/2006/main">
              <a:ext uri="{FF2B5EF4-FFF2-40B4-BE49-F238E27FC236}">
                <a16:creationId xmlns:a16="http://schemas.microsoft.com/office/drawing/2014/main" id="{B70D9EE2-8527-499F-B179-B6E2F6DC9282}"/>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5636E1-AC7A-4605-B23F-EBC2D3E7F2E1}"/>
              </a:ext>
            </a:extLst>
          </p:cNvPr>
          <p:cNvSpPr>
            <a:spLocks xmlns:a="http://schemas.openxmlformats.org/drawingml/2006/main" noGrp="1"/>
          </p:cNvSpPr>
          <p:nvPr/>
        </p:nvSpPr>
        <p:spPr>
          <a:xfrm xmlns:a="http://schemas.openxmlformats.org/drawingml/2006/main">
            <a:off x="457200" y="1238250"/>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FROM MAPPED STRUCTURE</a:t>
            </a:r>
          </a:p>
          <a:p xmlns:a="http://schemas.openxmlformats.org/drawingml/2006/main">
            <a:pPr algn="l">
              <a:lnSpc>
                <a:spcPct val="92000"/>
              </a:lnSpc>
              <a:buNone/>
              <a:defRPr sz="3000" b="1" i="0">
                <a:solidFill>
                  <a:srgbClr val="F1EEE9"/>
                </a:solidFill>
                <a:latin typeface="Bahnschrift"/>
                <a:ea typeface="Bahnschrift"/>
                <a:cs typeface="Bahnschrift"/>
              </a:defRPr>
            </a:pPr>
            <a:r>
              <a:rPr sz="3000" b="1" i="0">
                <a:solidFill>
                  <a:srgbClr val="F1EEE9"/>
                </a:solidFill>
                <a:latin typeface="Bahnschrift"/>
                <a:ea typeface="Bahnschrift"/>
                <a:cs typeface="Bahnschrift"/>
              </a:rPr>
              <a:t>TO TESTABLE 3D SCENARIO.</a:t>
            </a:r>
          </a:p>
        </p:txBody>
      </p:sp>
      <p:sp>
        <p:nvSpPr>
          <p:cNvPr id="7" name="">
            <a:extLst xmlns:a="http://schemas.openxmlformats.org/drawingml/2006/main">
              <a:ext uri="{FF2B5EF4-FFF2-40B4-BE49-F238E27FC236}">
                <a16:creationId xmlns:a16="http://schemas.microsoft.com/office/drawing/2014/main" id="{AE88D9C6-B7DD-46C7-AD4E-124D1BB2950A}"/>
              </a:ext>
            </a:extLst>
          </p:cNvPr>
          <p:cNvSpPr>
            <a:spLocks xmlns:a="http://schemas.openxmlformats.org/drawingml/2006/main" noGrp="1"/>
          </p:cNvSpPr>
          <p:nvPr/>
        </p:nvSpPr>
        <p:spPr>
          <a:xfrm xmlns:a="http://schemas.openxmlformats.org/drawingml/2006/main">
            <a:off x="6838950" y="14859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500" b="0" i="0">
                <a:solidFill>
                  <a:srgbClr val="AAB0B4"/>
                </a:solidFill>
                <a:latin typeface="Arial"/>
                <a:ea typeface="Arial"/>
                <a:cs typeface="Arial"/>
              </a:defRPr>
            </a:pPr>
            <a:r>
              <a:rPr sz="1500" b="0" i="0">
                <a:solidFill>
                  <a:srgbClr val="AAB0B4"/>
                </a:solidFill>
                <a:latin typeface="Arial"/>
                <a:ea typeface="Arial"/>
                <a:cs typeface="Arial"/>
              </a:rPr>
              <a:t>A visual and heuristic lab—never an unsupported engineering verdict.</a:t>
            </a:r>
          </a:p>
        </p:txBody>
      </p:sp>
      <p:sp>
        <p:nvSpPr>
          <p:cNvPr id="8" name="">
            <a:extLst xmlns:a="http://schemas.openxmlformats.org/drawingml/2006/main">
              <a:ext uri="{FF2B5EF4-FFF2-40B4-BE49-F238E27FC236}">
                <a16:creationId xmlns:a16="http://schemas.microsoft.com/office/drawing/2014/main" id="{A0759115-C94F-4419-88FB-7404C578A6A7}"/>
              </a:ext>
            </a:extLst>
          </p:cNvPr>
          <p:cNvSpPr>
            <a:spLocks xmlns:a="http://schemas.openxmlformats.org/drawingml/2006/main" noGrp="1"/>
          </p:cNvSpPr>
          <p:nvPr/>
        </p:nvSpPr>
        <p:spPr>
          <a:xfrm xmlns:a="http://schemas.openxmlformats.org/drawingml/2006/main">
            <a:off x="438150" y="2457450"/>
            <a:ext cx="7410450" cy="3867150"/>
          </a:xfrm>
          <a:prstGeom xmlns:a="http://schemas.openxmlformats.org/drawingml/2006/main" prst="rect">
            <a:avLst/>
          </a:prstGeom>
          <a:solidFill xmlns:a="http://schemas.openxmlformats.org/drawingml/2006/main">
            <a:srgbClr val="CBC7C0"/>
          </a:solidFill>
          <a:ln xmlns:a="http://schemas.openxmlformats.org/drawingml/2006/main" w="0">
            <a:no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d6da43de4cac4925"/>
          <a:srcRect xmlns:a="http://schemas.openxmlformats.org/drawingml/2006/main" l="0" t="3833" r="0" b="3833"/>
          <a:stretch xmlns:a="http://schemas.openxmlformats.org/drawingml/2006/main">
            <a:fillRect l="0" t="0" r="0" b="0"/>
          </a:stretch>
        </p:blipFill>
        <p:spPr>
          <a:xfrm xmlns:a="http://schemas.openxmlformats.org/drawingml/2006/main">
            <a:off x="457200" y="2476500"/>
            <a:ext cx="7372350" cy="38290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ECD11B5-8D7D-47F2-91EA-C49500347F8C}"/>
              </a:ext>
            </a:extLst>
          </p:cNvPr>
          <p:cNvSpPr>
            <a:spLocks xmlns:a="http://schemas.openxmlformats.org/drawingml/2006/main" noGrp="1"/>
          </p:cNvSpPr>
          <p:nvPr/>
        </p:nvSpPr>
        <p:spPr>
          <a:xfrm xmlns:a="http://schemas.openxmlformats.org/drawingml/2006/main">
            <a:off x="8229600" y="26098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IMPORT</a:t>
            </a:r>
          </a:p>
        </p:txBody>
      </p:sp>
      <p:sp>
        <p:nvSpPr>
          <p:cNvPr id="11" name="">
            <a:extLst xmlns:a="http://schemas.openxmlformats.org/drawingml/2006/main">
              <a:ext uri="{FF2B5EF4-FFF2-40B4-BE49-F238E27FC236}">
                <a16:creationId xmlns:a16="http://schemas.microsoft.com/office/drawing/2014/main" id="{0E8C7E80-7C10-43F8-AA42-6E0423002445}"/>
              </a:ext>
            </a:extLst>
          </p:cNvPr>
          <p:cNvSpPr>
            <a:spLocks xmlns:a="http://schemas.openxmlformats.org/drawingml/2006/main" noGrp="1"/>
          </p:cNvSpPr>
          <p:nvPr/>
        </p:nvSpPr>
        <p:spPr>
          <a:xfrm xmlns:a="http://schemas.openxmlformats.org/drawingml/2006/main">
            <a:off x="8229600" y="28670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Search real infrastructure or resolve an address.</a:t>
            </a:r>
          </a:p>
        </p:txBody>
      </p:sp>
      <p:sp>
        <p:nvSpPr>
          <p:cNvPr id="12" name="">
            <a:extLst xmlns:a="http://schemas.openxmlformats.org/drawingml/2006/main">
              <a:ext uri="{FF2B5EF4-FFF2-40B4-BE49-F238E27FC236}">
                <a16:creationId xmlns:a16="http://schemas.microsoft.com/office/drawing/2014/main" id="{E0571F53-6C5E-4F63-9F44-40FF3A3F6A0F}"/>
              </a:ext>
            </a:extLst>
          </p:cNvPr>
          <p:cNvSpPr>
            <a:spLocks xmlns:a="http://schemas.openxmlformats.org/drawingml/2006/main" noGrp="1"/>
          </p:cNvSpPr>
          <p:nvPr/>
        </p:nvSpPr>
        <p:spPr>
          <a:xfrm xmlns:a="http://schemas.openxmlformats.org/drawingml/2006/main">
            <a:off x="8229600" y="324802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99EF83E-8B61-4203-AD32-0E768AE0C091}"/>
              </a:ext>
            </a:extLst>
          </p:cNvPr>
          <p:cNvSpPr>
            <a:spLocks xmlns:a="http://schemas.openxmlformats.org/drawingml/2006/main" noGrp="1"/>
          </p:cNvSpPr>
          <p:nvPr/>
        </p:nvSpPr>
        <p:spPr>
          <a:xfrm xmlns:a="http://schemas.openxmlformats.org/drawingml/2006/main">
            <a:off x="8229600" y="33147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VERIFY</a:t>
            </a:r>
          </a:p>
        </p:txBody>
      </p:sp>
      <p:sp>
        <p:nvSpPr>
          <p:cNvPr id="14" name="">
            <a:extLst xmlns:a="http://schemas.openxmlformats.org/drawingml/2006/main">
              <a:ext uri="{FF2B5EF4-FFF2-40B4-BE49-F238E27FC236}">
                <a16:creationId xmlns:a16="http://schemas.microsoft.com/office/drawing/2014/main" id="{43332E6C-F136-479D-893C-84F9DDD0BE1F}"/>
              </a:ext>
            </a:extLst>
          </p:cNvPr>
          <p:cNvSpPr>
            <a:spLocks xmlns:a="http://schemas.openxmlformats.org/drawingml/2006/main" noGrp="1"/>
          </p:cNvSpPr>
          <p:nvPr/>
        </p:nvSpPr>
        <p:spPr>
          <a:xfrm xmlns:a="http://schemas.openxmlformats.org/drawingml/2006/main">
            <a:off x="8229600" y="35718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Review exterior imagery before grounded AI description.</a:t>
            </a:r>
          </a:p>
        </p:txBody>
      </p:sp>
      <p:sp>
        <p:nvSpPr>
          <p:cNvPr id="15" name="">
            <a:extLst xmlns:a="http://schemas.openxmlformats.org/drawingml/2006/main">
              <a:ext uri="{FF2B5EF4-FFF2-40B4-BE49-F238E27FC236}">
                <a16:creationId xmlns:a16="http://schemas.microsoft.com/office/drawing/2014/main" id="{7B27F0A9-BC59-42EE-B334-637CAF350755}"/>
              </a:ext>
            </a:extLst>
          </p:cNvPr>
          <p:cNvSpPr>
            <a:spLocks xmlns:a="http://schemas.openxmlformats.org/drawingml/2006/main" noGrp="1"/>
          </p:cNvSpPr>
          <p:nvPr/>
        </p:nvSpPr>
        <p:spPr>
          <a:xfrm xmlns:a="http://schemas.openxmlformats.org/drawingml/2006/main">
            <a:off x="8229600" y="395287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D8AA45-D60A-4D2F-A5DA-59D337376096}"/>
              </a:ext>
            </a:extLst>
          </p:cNvPr>
          <p:cNvSpPr>
            <a:spLocks xmlns:a="http://schemas.openxmlformats.org/drawingml/2006/main" noGrp="1"/>
          </p:cNvSpPr>
          <p:nvPr/>
        </p:nvSpPr>
        <p:spPr>
          <a:xfrm xmlns:a="http://schemas.openxmlformats.org/drawingml/2006/main">
            <a:off x="8229600" y="40195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BUILD</a:t>
            </a:r>
          </a:p>
        </p:txBody>
      </p:sp>
      <p:sp>
        <p:nvSpPr>
          <p:cNvPr id="17" name="">
            <a:extLst xmlns:a="http://schemas.openxmlformats.org/drawingml/2006/main">
              <a:ext uri="{FF2B5EF4-FFF2-40B4-BE49-F238E27FC236}">
                <a16:creationId xmlns:a16="http://schemas.microsoft.com/office/drawing/2014/main" id="{BAC1D631-DFE5-47EC-8175-1F52E11E0A04}"/>
              </a:ext>
            </a:extLst>
          </p:cNvPr>
          <p:cNvSpPr>
            <a:spLocks xmlns:a="http://schemas.openxmlformats.org/drawingml/2006/main" noGrp="1"/>
          </p:cNvSpPr>
          <p:nvPr/>
        </p:nvSpPr>
        <p:spPr>
          <a:xfrm xmlns:a="http://schemas.openxmlformats.org/drawingml/2006/main">
            <a:off x="8229600" y="42767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Generate or directly edit faces, edges and vertices.</a:t>
            </a:r>
          </a:p>
        </p:txBody>
      </p:sp>
      <p:sp>
        <p:nvSpPr>
          <p:cNvPr id="18" name="">
            <a:extLst xmlns:a="http://schemas.openxmlformats.org/drawingml/2006/main">
              <a:ext uri="{FF2B5EF4-FFF2-40B4-BE49-F238E27FC236}">
                <a16:creationId xmlns:a16="http://schemas.microsoft.com/office/drawing/2014/main" id="{840A8C6C-0269-4621-90EF-E9AEA17DA350}"/>
              </a:ext>
            </a:extLst>
          </p:cNvPr>
          <p:cNvSpPr>
            <a:spLocks xmlns:a="http://schemas.openxmlformats.org/drawingml/2006/main" noGrp="1"/>
          </p:cNvSpPr>
          <p:nvPr/>
        </p:nvSpPr>
        <p:spPr>
          <a:xfrm xmlns:a="http://schemas.openxmlformats.org/drawingml/2006/main">
            <a:off x="8229600" y="465772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EA560B5-7A41-4415-9A3E-F55044094E7B}"/>
              </a:ext>
            </a:extLst>
          </p:cNvPr>
          <p:cNvSpPr>
            <a:spLocks xmlns:a="http://schemas.openxmlformats.org/drawingml/2006/main" noGrp="1"/>
          </p:cNvSpPr>
          <p:nvPr/>
        </p:nvSpPr>
        <p:spPr>
          <a:xfrm xmlns:a="http://schemas.openxmlformats.org/drawingml/2006/main">
            <a:off x="8229600" y="47244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SIMULATE</a:t>
            </a:r>
          </a:p>
        </p:txBody>
      </p:sp>
      <p:sp>
        <p:nvSpPr>
          <p:cNvPr id="20" name="">
            <a:extLst xmlns:a="http://schemas.openxmlformats.org/drawingml/2006/main">
              <a:ext uri="{FF2B5EF4-FFF2-40B4-BE49-F238E27FC236}">
                <a16:creationId xmlns:a16="http://schemas.microsoft.com/office/drawing/2014/main" id="{BB615C31-6921-4B33-9E06-29D65039B0F7}"/>
              </a:ext>
            </a:extLst>
          </p:cNvPr>
          <p:cNvSpPr>
            <a:spLocks xmlns:a="http://schemas.openxmlformats.org/drawingml/2006/main" noGrp="1"/>
          </p:cNvSpPr>
          <p:nvPr/>
        </p:nvSpPr>
        <p:spPr>
          <a:xfrm xmlns:a="http://schemas.openxmlformats.org/drawingml/2006/main">
            <a:off x="8229600" y="498157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Earthquake, flood and wind scenarios over time.</a:t>
            </a:r>
          </a:p>
        </p:txBody>
      </p:sp>
      <p:sp>
        <p:nvSpPr>
          <p:cNvPr id="21" name="">
            <a:extLst xmlns:a="http://schemas.openxmlformats.org/drawingml/2006/main">
              <a:ext uri="{FF2B5EF4-FFF2-40B4-BE49-F238E27FC236}">
                <a16:creationId xmlns:a16="http://schemas.microsoft.com/office/drawing/2014/main" id="{04A0FA38-7B87-4C04-A7F3-0D6BF2A32171}"/>
              </a:ext>
            </a:extLst>
          </p:cNvPr>
          <p:cNvSpPr>
            <a:spLocks xmlns:a="http://schemas.openxmlformats.org/drawingml/2006/main" noGrp="1"/>
          </p:cNvSpPr>
          <p:nvPr/>
        </p:nvSpPr>
        <p:spPr>
          <a:xfrm xmlns:a="http://schemas.openxmlformats.org/drawingml/2006/main">
            <a:off x="8229600" y="5362575"/>
            <a:ext cx="314325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67ABDEF-0094-4103-B6A1-BA8B06541D3A}"/>
              </a:ext>
            </a:extLst>
          </p:cNvPr>
          <p:cNvSpPr>
            <a:spLocks xmlns:a="http://schemas.openxmlformats.org/drawingml/2006/main" noGrp="1"/>
          </p:cNvSpPr>
          <p:nvPr/>
        </p:nvSpPr>
        <p:spPr>
          <a:xfrm xmlns:a="http://schemas.openxmlformats.org/drawingml/2006/main">
            <a:off x="8229600" y="5429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FF3B1F"/>
                </a:solidFill>
                <a:latin typeface="Bahnschrift"/>
                <a:ea typeface="Bahnschrift"/>
                <a:cs typeface="Bahnschrift"/>
              </a:defRPr>
            </a:pPr>
            <a:r>
              <a:rPr sz="1125" b="1" i="0">
                <a:solidFill>
                  <a:srgbClr val="FF3B1F"/>
                </a:solidFill>
                <a:latin typeface="Bahnschrift"/>
                <a:ea typeface="Bahnschrift"/>
                <a:cs typeface="Bahnschrift"/>
              </a:rPr>
              <a:t>COMPARE</a:t>
            </a:r>
          </a:p>
        </p:txBody>
      </p:sp>
      <p:sp>
        <p:nvSpPr>
          <p:cNvPr id="23" name="">
            <a:extLst xmlns:a="http://schemas.openxmlformats.org/drawingml/2006/main">
              <a:ext uri="{FF2B5EF4-FFF2-40B4-BE49-F238E27FC236}">
                <a16:creationId xmlns:a16="http://schemas.microsoft.com/office/drawing/2014/main" id="{B58407BD-3051-47A8-B19C-143BED997915}"/>
              </a:ext>
            </a:extLst>
          </p:cNvPr>
          <p:cNvSpPr>
            <a:spLocks xmlns:a="http://schemas.openxmlformats.org/drawingml/2006/main" noGrp="1"/>
          </p:cNvSpPr>
          <p:nvPr/>
        </p:nvSpPr>
        <p:spPr>
          <a:xfrm xmlns:a="http://schemas.openxmlformats.org/drawingml/2006/main">
            <a:off x="8229600" y="56864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1EEE9"/>
                </a:solidFill>
                <a:latin typeface="Arial"/>
                <a:ea typeface="Arial"/>
                <a:cs typeface="Arial"/>
              </a:defRPr>
            </a:pPr>
            <a:r>
              <a:rPr sz="1200" b="0" i="0">
                <a:solidFill>
                  <a:srgbClr val="F1EEE9"/>
                </a:solidFill>
                <a:latin typeface="Arial"/>
                <a:ea typeface="Arial"/>
                <a:cs typeface="Arial"/>
              </a:rPr>
              <a:t>Same building + same hazard, Design A versus Design B.</a:t>
            </a:r>
          </a:p>
        </p:txBody>
      </p:sp>
    </p:spTree>
    <p:extLst>
      <p:ext uri="{BB962C8B-B14F-4D97-AF65-F5344CB8AC3E}">
        <p14:creationId xmlns:p14="http://schemas.microsoft.com/office/powerpoint/2010/main" val="466631416"/>
      </p:ext>
    </p:extLst>
  </p:cSld>
</p:sld>
</file>

<file path=ppt/slides/slide1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2638EFA-CDA8-455A-B6CA-EC44FAA4A4C3}"/>
              </a:ext>
            </a:extLst>
          </p:cNvPr>
          <p:cNvSpPr>
            <a:spLocks xmlns:a="http://schemas.openxmlformats.org/drawingml/2006/main" noGrp="1"/>
          </p:cNvSpPr>
          <p:nvPr/>
        </p:nvSpPr>
        <p:spPr>
          <a:xfrm xmlns:a="http://schemas.openxmlformats.org/drawingml/2006/main">
            <a:off x="457200" y="247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0F1113"/>
                </a:solidFill>
                <a:latin typeface="Bahnschrift"/>
                <a:ea typeface="Bahnschrift"/>
                <a:cs typeface="Bahnschrift"/>
              </a:defRPr>
            </a:pPr>
            <a:r>
              <a:rPr sz="1050" b="1" i="0">
                <a:solidFill>
                  <a:srgbClr val="0F1113"/>
                </a:solidFill>
                <a:latin typeface="Bahnschrift"/>
                <a:ea typeface="Bahnschrift"/>
                <a:cs typeface="Bahnschrift"/>
              </a:rPr>
              <a:t>NAVIRA</a:t>
            </a:r>
          </a:p>
        </p:txBody>
      </p:sp>
      <p:sp>
        <p:nvSpPr>
          <p:cNvPr id="2" name="">
            <a:extLst xmlns:a="http://schemas.openxmlformats.org/drawingml/2006/main">
              <a:ext uri="{FF2B5EF4-FFF2-40B4-BE49-F238E27FC236}">
                <a16:creationId xmlns:a16="http://schemas.microsoft.com/office/drawing/2014/main" id="{76942B5A-2B03-411D-8A6E-B77E95D6650C}"/>
              </a:ext>
            </a:extLst>
          </p:cNvPr>
          <p:cNvSpPr>
            <a:spLocks xmlns:a="http://schemas.openxmlformats.org/drawingml/2006/main" noGrp="1"/>
          </p:cNvSpPr>
          <p:nvPr/>
        </p:nvSpPr>
        <p:spPr>
          <a:xfrm xmlns:a="http://schemas.openxmlformats.org/drawingml/2006/main">
            <a:off x="11315700" y="2476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i="0">
                <a:solidFill>
                  <a:srgbClr val="68737A"/>
                </a:solidFill>
                <a:latin typeface="Bahnschrift"/>
                <a:ea typeface="Bahnschrift"/>
                <a:cs typeface="Bahnschrift"/>
              </a:defRPr>
            </a:pPr>
            <a:r>
              <a:rPr sz="975" b="1" i="0">
                <a:solidFill>
                  <a:srgbClr val="68737A"/>
                </a:solidFill>
                <a:latin typeface="Bahnschrift"/>
                <a:ea typeface="Bahnschrift"/>
                <a:cs typeface="Bahnschrift"/>
              </a:rPr>
              <a:t>13</a:t>
            </a:r>
          </a:p>
        </p:txBody>
      </p:sp>
      <p:sp>
        <p:nvSpPr>
          <p:cNvPr id="3" name="">
            <a:extLst xmlns:a="http://schemas.openxmlformats.org/drawingml/2006/main">
              <a:ext uri="{FF2B5EF4-FFF2-40B4-BE49-F238E27FC236}">
                <a16:creationId xmlns:a16="http://schemas.microsoft.com/office/drawing/2014/main" id="{2CE17B88-6830-4376-9A75-BC31CDA36343}"/>
              </a:ext>
            </a:extLst>
          </p:cNvPr>
          <p:cNvSpPr>
            <a:spLocks xmlns:a="http://schemas.openxmlformats.org/drawingml/2006/main" noGrp="1"/>
          </p:cNvSpPr>
          <p:nvPr/>
        </p:nvSpPr>
        <p:spPr>
          <a:xfrm xmlns:a="http://schemas.openxmlformats.org/drawingml/2006/main">
            <a:off x="457200" y="561975"/>
            <a:ext cx="11277600" cy="9525"/>
          </a:xfrm>
          <a:prstGeom xmlns:a="http://schemas.openxmlformats.org/drawingml/2006/main" prst="rect">
            <a:avLst/>
          </a:prstGeom>
          <a:solidFill xmlns:a="http://schemas.openxmlformats.org/drawingml/2006/main">
            <a:srgbClr val="CBC7C0"/>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44FC9A0-E828-4738-A4D6-427F2D24FD01}"/>
              </a:ext>
            </a:extLst>
          </p:cNvPr>
          <p:cNvSpPr>
            <a:spLocks xmlns:a="http://schemas.openxmlformats.org/drawingml/2006/main" noGrp="1"/>
          </p:cNvSpPr>
          <p:nvPr/>
        </p:nvSpPr>
        <p:spPr>
          <a:xfrm xmlns:a="http://schemas.openxmlformats.org/drawingml/2006/main">
            <a:off x="457200" y="838200"/>
            <a:ext cx="304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F3B1F"/>
                </a:solidFill>
                <a:latin typeface="Bahnschrift"/>
                <a:ea typeface="Bahnschrift"/>
                <a:cs typeface="Bahnschrift"/>
              </a:defRPr>
            </a:pPr>
            <a:r>
              <a:rPr sz="900" b="1" i="0">
                <a:solidFill>
                  <a:srgbClr val="FF3B1F"/>
                </a:solidFill>
                <a:latin typeface="Bahnschrift"/>
                <a:ea typeface="Bahnschrift"/>
                <a:cs typeface="Bahnschrift"/>
              </a:rPr>
              <a:t>TRUST ARCHITECTURE</a:t>
            </a:r>
          </a:p>
        </p:txBody>
      </p:sp>
      <p:sp>
        <p:nvSpPr>
          <p:cNvPr id="5" name="">
            <a:extLst xmlns:a="http://schemas.openxmlformats.org/drawingml/2006/main">
              <a:ext uri="{FF2B5EF4-FFF2-40B4-BE49-F238E27FC236}">
                <a16:creationId xmlns:a16="http://schemas.microsoft.com/office/drawing/2014/main" id="{1EE3BF2F-F18E-4837-969B-2025E1561EB7}"/>
              </a:ext>
            </a:extLst>
          </p:cNvPr>
          <p:cNvSpPr>
            <a:spLocks xmlns:a="http://schemas.openxmlformats.org/drawingml/2006/main" noGrp="1"/>
          </p:cNvSpPr>
          <p:nvPr/>
        </p:nvSpPr>
        <p:spPr>
          <a:xfrm xmlns:a="http://schemas.openxmlformats.org/drawingml/2006/main">
            <a:off x="457200" y="1085850"/>
            <a:ext cx="3048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0BAA05-CE72-41B9-8F41-C2762ABE6F81}"/>
              </a:ext>
            </a:extLst>
          </p:cNvPr>
          <p:cNvSpPr>
            <a:spLocks xmlns:a="http://schemas.openxmlformats.org/drawingml/2006/main" noGrp="1"/>
          </p:cNvSpPr>
          <p:nvPr/>
        </p:nvSpPr>
        <p:spPr>
          <a:xfrm xmlns:a="http://schemas.openxmlformats.org/drawingml/2006/main">
            <a:off x="457200" y="1219200"/>
            <a:ext cx="7810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FACTS STAY DETERMINISTIC.</a:t>
            </a:r>
          </a:p>
          <a:p xmlns:a="http://schemas.openxmlformats.org/drawingml/2006/main">
            <a:pPr algn="l">
              <a:lnSpc>
                <a:spcPct val="92000"/>
              </a:lnSpc>
              <a:buNone/>
              <a:defRPr sz="3075" b="1" i="0">
                <a:solidFill>
                  <a:srgbClr val="0F1113"/>
                </a:solidFill>
                <a:latin typeface="Bahnschrift"/>
                <a:ea typeface="Bahnschrift"/>
                <a:cs typeface="Bahnschrift"/>
              </a:defRPr>
            </a:pPr>
            <a:r>
              <a:rPr sz="3075" b="1" i="0">
                <a:solidFill>
                  <a:srgbClr val="0F1113"/>
                </a:solidFill>
                <a:latin typeface="Bahnschrift"/>
                <a:ea typeface="Bahnschrift"/>
                <a:cs typeface="Bahnschrift"/>
              </a:rPr>
              <a:t>AI STAYS IN ITS LANE.</a:t>
            </a:r>
          </a:p>
        </p:txBody>
      </p:sp>
      <p:sp>
        <p:nvSpPr>
          <p:cNvPr id="7" name="">
            <a:extLst xmlns:a="http://schemas.openxmlformats.org/drawingml/2006/main">
              <a:ext uri="{FF2B5EF4-FFF2-40B4-BE49-F238E27FC236}">
                <a16:creationId xmlns:a16="http://schemas.microsoft.com/office/drawing/2014/main" id="{6030C5F5-B2F5-47AD-A712-8488A7EC1301}"/>
              </a:ext>
            </a:extLst>
          </p:cNvPr>
          <p:cNvSpPr>
            <a:spLocks xmlns:a="http://schemas.openxmlformats.org/drawingml/2006/main" noGrp="1"/>
          </p:cNvSpPr>
          <p:nvPr/>
        </p:nvSpPr>
        <p:spPr>
          <a:xfrm xmlns:a="http://schemas.openxmlformats.org/drawingml/2006/main">
            <a:off x="457200" y="270510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8" name="">
            <a:extLst xmlns:a="http://schemas.openxmlformats.org/drawingml/2006/main">
              <a:ext uri="{FF2B5EF4-FFF2-40B4-BE49-F238E27FC236}">
                <a16:creationId xmlns:a16="http://schemas.microsoft.com/office/drawing/2014/main" id="{F69CAFD0-E404-45A7-8006-B28F757E6CFA}"/>
              </a:ext>
            </a:extLst>
          </p:cNvPr>
          <p:cNvSpPr>
            <a:spLocks xmlns:a="http://schemas.openxmlformats.org/drawingml/2006/main" noGrp="1"/>
          </p:cNvSpPr>
          <p:nvPr/>
        </p:nvSpPr>
        <p:spPr>
          <a:xfrm xmlns:a="http://schemas.openxmlformats.org/drawingml/2006/main">
            <a:off x="647700" y="286702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01</a:t>
            </a:r>
          </a:p>
        </p:txBody>
      </p:sp>
      <p:sp>
        <p:nvSpPr>
          <p:cNvPr id="9" name="">
            <a:extLst xmlns:a="http://schemas.openxmlformats.org/drawingml/2006/main">
              <a:ext uri="{FF2B5EF4-FFF2-40B4-BE49-F238E27FC236}">
                <a16:creationId xmlns:a16="http://schemas.microsoft.com/office/drawing/2014/main" id="{9A1AFE54-50FF-417D-932A-B6A8FE8A59CC}"/>
              </a:ext>
            </a:extLst>
          </p:cNvPr>
          <p:cNvSpPr>
            <a:spLocks xmlns:a="http://schemas.openxmlformats.org/drawingml/2006/main" noGrp="1"/>
          </p:cNvSpPr>
          <p:nvPr/>
        </p:nvSpPr>
        <p:spPr>
          <a:xfrm xmlns:a="http://schemas.openxmlformats.org/drawingml/2006/main">
            <a:off x="1409700" y="28479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AUTHORITATIVE / OPEN SOURCES</a:t>
            </a:r>
          </a:p>
        </p:txBody>
      </p:sp>
      <p:sp>
        <p:nvSpPr>
          <p:cNvPr id="10" name="">
            <a:extLst xmlns:a="http://schemas.openxmlformats.org/drawingml/2006/main">
              <a:ext uri="{FF2B5EF4-FFF2-40B4-BE49-F238E27FC236}">
                <a16:creationId xmlns:a16="http://schemas.microsoft.com/office/drawing/2014/main" id="{107B356E-D75E-47B7-B6A7-3861FB461C71}"/>
              </a:ext>
            </a:extLst>
          </p:cNvPr>
          <p:cNvSpPr>
            <a:spLocks xmlns:a="http://schemas.openxmlformats.org/drawingml/2006/main" noGrp="1"/>
          </p:cNvSpPr>
          <p:nvPr/>
        </p:nvSpPr>
        <p:spPr>
          <a:xfrm xmlns:a="http://schemas.openxmlformats.org/drawingml/2006/main">
            <a:off x="4819650" y="284797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Disasters · alerts · roads · geography · infrastructure</a:t>
            </a:r>
          </a:p>
        </p:txBody>
      </p:sp>
      <p:sp>
        <p:nvSpPr>
          <p:cNvPr id="11" name="">
            <a:extLst xmlns:a="http://schemas.openxmlformats.org/drawingml/2006/main">
              <a:ext uri="{FF2B5EF4-FFF2-40B4-BE49-F238E27FC236}">
                <a16:creationId xmlns:a16="http://schemas.microsoft.com/office/drawing/2014/main" id="{A661790D-2933-4404-AE45-052885EDFD94}"/>
              </a:ext>
            </a:extLst>
          </p:cNvPr>
          <p:cNvSpPr>
            <a:spLocks xmlns:a="http://schemas.openxmlformats.org/drawingml/2006/main" noGrp="1"/>
          </p:cNvSpPr>
          <p:nvPr/>
        </p:nvSpPr>
        <p:spPr>
          <a:xfrm xmlns:a="http://schemas.openxmlformats.org/drawingml/2006/main">
            <a:off x="457200" y="344805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12" name="">
            <a:extLst xmlns:a="http://schemas.openxmlformats.org/drawingml/2006/main">
              <a:ext uri="{FF2B5EF4-FFF2-40B4-BE49-F238E27FC236}">
                <a16:creationId xmlns:a16="http://schemas.microsoft.com/office/drawing/2014/main" id="{0FAD45AF-3B87-4F48-94E8-9DEA6491879A}"/>
              </a:ext>
            </a:extLst>
          </p:cNvPr>
          <p:cNvSpPr>
            <a:spLocks xmlns:a="http://schemas.openxmlformats.org/drawingml/2006/main" noGrp="1"/>
          </p:cNvSpPr>
          <p:nvPr/>
        </p:nvSpPr>
        <p:spPr>
          <a:xfrm xmlns:a="http://schemas.openxmlformats.org/drawingml/2006/main">
            <a:off x="647700" y="36099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02</a:t>
            </a:r>
          </a:p>
        </p:txBody>
      </p:sp>
      <p:sp>
        <p:nvSpPr>
          <p:cNvPr id="13" name="">
            <a:extLst xmlns:a="http://schemas.openxmlformats.org/drawingml/2006/main">
              <a:ext uri="{FF2B5EF4-FFF2-40B4-BE49-F238E27FC236}">
                <a16:creationId xmlns:a16="http://schemas.microsoft.com/office/drawing/2014/main" id="{B5FF2166-7B2A-484A-AA8F-A876510087BD}"/>
              </a:ext>
            </a:extLst>
          </p:cNvPr>
          <p:cNvSpPr>
            <a:spLocks xmlns:a="http://schemas.openxmlformats.org/drawingml/2006/main" noGrp="1"/>
          </p:cNvSpPr>
          <p:nvPr/>
        </p:nvSpPr>
        <p:spPr>
          <a:xfrm xmlns:a="http://schemas.openxmlformats.org/drawingml/2006/main">
            <a:off x="1409700" y="35909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DETERMINISTIC CORE</a:t>
            </a:r>
          </a:p>
        </p:txBody>
      </p:sp>
      <p:sp>
        <p:nvSpPr>
          <p:cNvPr id="14" name="">
            <a:extLst xmlns:a="http://schemas.openxmlformats.org/drawingml/2006/main">
              <a:ext uri="{FF2B5EF4-FFF2-40B4-BE49-F238E27FC236}">
                <a16:creationId xmlns:a16="http://schemas.microsoft.com/office/drawing/2014/main" id="{C02643EA-96C7-4948-9FFE-44FE1E9E4442}"/>
              </a:ext>
            </a:extLst>
          </p:cNvPr>
          <p:cNvSpPr>
            <a:spLocks xmlns:a="http://schemas.openxmlformats.org/drawingml/2006/main" noGrp="1"/>
          </p:cNvSpPr>
          <p:nvPr/>
        </p:nvSpPr>
        <p:spPr>
          <a:xfrm xmlns:a="http://schemas.openxmlformats.org/drawingml/2006/main">
            <a:off x="4819650" y="359092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Geometry checks · distance · routing · state transitions · allocations</a:t>
            </a:r>
          </a:p>
        </p:txBody>
      </p:sp>
      <p:sp>
        <p:nvSpPr>
          <p:cNvPr id="15" name="">
            <a:extLst xmlns:a="http://schemas.openxmlformats.org/drawingml/2006/main">
              <a:ext uri="{FF2B5EF4-FFF2-40B4-BE49-F238E27FC236}">
                <a16:creationId xmlns:a16="http://schemas.microsoft.com/office/drawing/2014/main" id="{DDD1A8DD-4E29-480A-A0A4-5E751DF16B01}"/>
              </a:ext>
            </a:extLst>
          </p:cNvPr>
          <p:cNvSpPr>
            <a:spLocks xmlns:a="http://schemas.openxmlformats.org/drawingml/2006/main" noGrp="1"/>
          </p:cNvSpPr>
          <p:nvPr/>
        </p:nvSpPr>
        <p:spPr>
          <a:xfrm xmlns:a="http://schemas.openxmlformats.org/drawingml/2006/main">
            <a:off x="457200" y="4191000"/>
            <a:ext cx="11277600" cy="590550"/>
          </a:xfrm>
          <a:prstGeom xmlns:a="http://schemas.openxmlformats.org/drawingml/2006/main" prst="rect">
            <a:avLst/>
          </a:prstGeom>
          <a:solidFill xmlns:a="http://schemas.openxmlformats.org/drawingml/2006/main">
            <a:srgbClr val="EFECE6"/>
          </a:solidFill>
          <a:ln xmlns:a="http://schemas.openxmlformats.org/drawingml/2006/main" w="9525">
            <a:solidFill>
              <a:srgbClr val="CBC7C0"/>
            </a:solidFill>
          </a:ln>
        </p:spPr>
      </p:sp>
      <p:sp>
        <p:nvSpPr>
          <p:cNvPr id="16" name="">
            <a:extLst xmlns:a="http://schemas.openxmlformats.org/drawingml/2006/main">
              <a:ext uri="{FF2B5EF4-FFF2-40B4-BE49-F238E27FC236}">
                <a16:creationId xmlns:a16="http://schemas.microsoft.com/office/drawing/2014/main" id="{5DD93D7C-59D3-4833-8122-3A9C9E164340}"/>
              </a:ext>
            </a:extLst>
          </p:cNvPr>
          <p:cNvSpPr>
            <a:spLocks xmlns:a="http://schemas.openxmlformats.org/drawingml/2006/main" noGrp="1"/>
          </p:cNvSpPr>
          <p:nvPr/>
        </p:nvSpPr>
        <p:spPr>
          <a:xfrm xmlns:a="http://schemas.openxmlformats.org/drawingml/2006/main">
            <a:off x="647700" y="435292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03</a:t>
            </a:r>
          </a:p>
        </p:txBody>
      </p:sp>
      <p:sp>
        <p:nvSpPr>
          <p:cNvPr id="17" name="">
            <a:extLst xmlns:a="http://schemas.openxmlformats.org/drawingml/2006/main">
              <a:ext uri="{FF2B5EF4-FFF2-40B4-BE49-F238E27FC236}">
                <a16:creationId xmlns:a16="http://schemas.microsoft.com/office/drawing/2014/main" id="{8674FAB9-283B-476C-BC8C-FFEB1F3DDAC0}"/>
              </a:ext>
            </a:extLst>
          </p:cNvPr>
          <p:cNvSpPr>
            <a:spLocks xmlns:a="http://schemas.openxmlformats.org/drawingml/2006/main" noGrp="1"/>
          </p:cNvSpPr>
          <p:nvPr/>
        </p:nvSpPr>
        <p:spPr>
          <a:xfrm xmlns:a="http://schemas.openxmlformats.org/drawingml/2006/main">
            <a:off x="1409700" y="43338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0F1113"/>
                </a:solidFill>
                <a:latin typeface="Bahnschrift"/>
                <a:ea typeface="Bahnschrift"/>
                <a:cs typeface="Bahnschrift"/>
              </a:defRPr>
            </a:pPr>
            <a:r>
              <a:rPr sz="1275" b="1" i="0">
                <a:solidFill>
                  <a:srgbClr val="0F1113"/>
                </a:solidFill>
                <a:latin typeface="Bahnschrift"/>
                <a:ea typeface="Bahnschrift"/>
                <a:cs typeface="Bahnschrift"/>
              </a:rPr>
              <a:t>ROLE-BASED WORKFLOWS</a:t>
            </a:r>
          </a:p>
        </p:txBody>
      </p:sp>
      <p:sp>
        <p:nvSpPr>
          <p:cNvPr id="18" name="">
            <a:extLst xmlns:a="http://schemas.openxmlformats.org/drawingml/2006/main">
              <a:ext uri="{FF2B5EF4-FFF2-40B4-BE49-F238E27FC236}">
                <a16:creationId xmlns:a16="http://schemas.microsoft.com/office/drawing/2014/main" id="{DEF26764-C983-4C74-963D-358D92D7F900}"/>
              </a:ext>
            </a:extLst>
          </p:cNvPr>
          <p:cNvSpPr>
            <a:spLocks xmlns:a="http://schemas.openxmlformats.org/drawingml/2006/main" noGrp="1"/>
          </p:cNvSpPr>
          <p:nvPr/>
        </p:nvSpPr>
        <p:spPr>
          <a:xfrm xmlns:a="http://schemas.openxmlformats.org/drawingml/2006/main">
            <a:off x="4819650" y="433387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191C1F"/>
                </a:solidFill>
                <a:latin typeface="Arial"/>
                <a:ea typeface="Arial"/>
                <a:cs typeface="Arial"/>
              </a:defRPr>
            </a:pPr>
            <a:r>
              <a:rPr sz="1275" b="0" i="0">
                <a:solidFill>
                  <a:srgbClr val="191C1F"/>
                </a:solidFill>
                <a:latin typeface="Arial"/>
                <a:ea typeface="Arial"/>
                <a:cs typeface="Arial"/>
              </a:rPr>
              <a:t>Civilian · responder · operator · organization and incident access</a:t>
            </a:r>
          </a:p>
        </p:txBody>
      </p:sp>
      <p:sp>
        <p:nvSpPr>
          <p:cNvPr id="19" name="">
            <a:extLst xmlns:a="http://schemas.openxmlformats.org/drawingml/2006/main">
              <a:ext uri="{FF2B5EF4-FFF2-40B4-BE49-F238E27FC236}">
                <a16:creationId xmlns:a16="http://schemas.microsoft.com/office/drawing/2014/main" id="{21EFC91D-5AC7-4815-88F3-4BD0853DC326}"/>
              </a:ext>
            </a:extLst>
          </p:cNvPr>
          <p:cNvSpPr>
            <a:spLocks xmlns:a="http://schemas.openxmlformats.org/drawingml/2006/main" noGrp="1"/>
          </p:cNvSpPr>
          <p:nvPr/>
        </p:nvSpPr>
        <p:spPr>
          <a:xfrm xmlns:a="http://schemas.openxmlformats.org/drawingml/2006/main">
            <a:off x="457200" y="4933950"/>
            <a:ext cx="11277600" cy="590550"/>
          </a:xfrm>
          <a:prstGeom xmlns:a="http://schemas.openxmlformats.org/drawingml/2006/main" prst="rect">
            <a:avLst/>
          </a:prstGeom>
          <a:solidFill xmlns:a="http://schemas.openxmlformats.org/drawingml/2006/main">
            <a:srgbClr val="0F1113"/>
          </a:solidFill>
          <a:ln xmlns:a="http://schemas.openxmlformats.org/drawingml/2006/main" w="9525">
            <a:solidFill>
              <a:srgbClr val="0F1113"/>
            </a:solidFill>
          </a:ln>
        </p:spPr>
      </p:sp>
      <p:sp>
        <p:nvSpPr>
          <p:cNvPr id="20" name="">
            <a:extLst xmlns:a="http://schemas.openxmlformats.org/drawingml/2006/main">
              <a:ext uri="{FF2B5EF4-FFF2-40B4-BE49-F238E27FC236}">
                <a16:creationId xmlns:a16="http://schemas.microsoft.com/office/drawing/2014/main" id="{C5E315C7-369D-4C41-8979-CA5359A77339}"/>
              </a:ext>
            </a:extLst>
          </p:cNvPr>
          <p:cNvSpPr>
            <a:spLocks xmlns:a="http://schemas.openxmlformats.org/drawingml/2006/main" noGrp="1"/>
          </p:cNvSpPr>
          <p:nvPr/>
        </p:nvSpPr>
        <p:spPr>
          <a:xfrm xmlns:a="http://schemas.openxmlformats.org/drawingml/2006/main">
            <a:off x="647700" y="5095875"/>
            <a:ext cx="514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F3B1F"/>
                </a:solidFill>
                <a:latin typeface="Bahnschrift"/>
                <a:ea typeface="Bahnschrift"/>
                <a:cs typeface="Bahnschrift"/>
              </a:defRPr>
            </a:pPr>
            <a:r>
              <a:rPr sz="1275" b="1" i="0">
                <a:solidFill>
                  <a:srgbClr val="FF3B1F"/>
                </a:solidFill>
                <a:latin typeface="Bahnschrift"/>
                <a:ea typeface="Bahnschrift"/>
                <a:cs typeface="Bahnschrift"/>
              </a:rPr>
              <a:t>04</a:t>
            </a:r>
          </a:p>
        </p:txBody>
      </p:sp>
      <p:sp>
        <p:nvSpPr>
          <p:cNvPr id="21" name="">
            <a:extLst xmlns:a="http://schemas.openxmlformats.org/drawingml/2006/main">
              <a:ext uri="{FF2B5EF4-FFF2-40B4-BE49-F238E27FC236}">
                <a16:creationId xmlns:a16="http://schemas.microsoft.com/office/drawing/2014/main" id="{3F7AA5DB-2142-4382-A38D-2A20402DF64D}"/>
              </a:ext>
            </a:extLst>
          </p:cNvPr>
          <p:cNvSpPr>
            <a:spLocks xmlns:a="http://schemas.openxmlformats.org/drawingml/2006/main" noGrp="1"/>
          </p:cNvSpPr>
          <p:nvPr/>
        </p:nvSpPr>
        <p:spPr>
          <a:xfrm xmlns:a="http://schemas.openxmlformats.org/drawingml/2006/main">
            <a:off x="1409700" y="50768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1EEE9"/>
                </a:solidFill>
                <a:latin typeface="Bahnschrift"/>
                <a:ea typeface="Bahnschrift"/>
                <a:cs typeface="Bahnschrift"/>
              </a:defRPr>
            </a:pPr>
            <a:r>
              <a:rPr sz="1275" b="1" i="0">
                <a:solidFill>
                  <a:srgbClr val="F1EEE9"/>
                </a:solidFill>
                <a:latin typeface="Bahnschrift"/>
                <a:ea typeface="Bahnschrift"/>
                <a:cs typeface="Bahnschrift"/>
              </a:rPr>
              <a:t>GROUNDED AI EXPLANATION</a:t>
            </a:r>
          </a:p>
        </p:txBody>
      </p:sp>
      <p:sp>
        <p:nvSpPr>
          <p:cNvPr id="22" name="">
            <a:extLst xmlns:a="http://schemas.openxmlformats.org/drawingml/2006/main">
              <a:ext uri="{FF2B5EF4-FFF2-40B4-BE49-F238E27FC236}">
                <a16:creationId xmlns:a16="http://schemas.microsoft.com/office/drawing/2014/main" id="{B0D860BE-DEB8-4619-BA68-2CCAA21DDAA7}"/>
              </a:ext>
            </a:extLst>
          </p:cNvPr>
          <p:cNvSpPr>
            <a:spLocks xmlns:a="http://schemas.openxmlformats.org/drawingml/2006/main" noGrp="1"/>
          </p:cNvSpPr>
          <p:nvPr/>
        </p:nvSpPr>
        <p:spPr>
          <a:xfrm xmlns:a="http://schemas.openxmlformats.org/drawingml/2006/main">
            <a:off x="4819650" y="5076825"/>
            <a:ext cx="655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0" i="0">
                <a:solidFill>
                  <a:srgbClr val="C9CDCF"/>
                </a:solidFill>
                <a:latin typeface="Arial"/>
                <a:ea typeface="Arial"/>
                <a:cs typeface="Arial"/>
              </a:defRPr>
            </a:pPr>
            <a:r>
              <a:rPr sz="1275" b="0" i="0">
                <a:solidFill>
                  <a:srgbClr val="C9CDCF"/>
                </a:solidFill>
                <a:latin typeface="Arial"/>
                <a:ea typeface="Arial"/>
                <a:cs typeface="Arial"/>
              </a:rPr>
              <a:t>Explain retrieved facts and approved images; never create operational truth</a:t>
            </a:r>
          </a:p>
        </p:txBody>
      </p:sp>
      <p:sp>
        <p:nvSpPr>
          <p:cNvPr id="23" name="">
            <a:extLst xmlns:a="http://schemas.openxmlformats.org/drawingml/2006/main">
              <a:ext uri="{FF2B5EF4-FFF2-40B4-BE49-F238E27FC236}">
                <a16:creationId xmlns:a16="http://schemas.microsoft.com/office/drawing/2014/main" id="{72ECD2FA-BF97-4D09-AF4B-5CB606C8A0FD}"/>
              </a:ext>
            </a:extLst>
          </p:cNvPr>
          <p:cNvSpPr>
            <a:spLocks xmlns:a="http://schemas.openxmlformats.org/drawingml/2006/main" noGrp="1"/>
          </p:cNvSpPr>
          <p:nvPr/>
        </p:nvSpPr>
        <p:spPr>
          <a:xfrm xmlns:a="http://schemas.openxmlformats.org/drawingml/2006/main">
            <a:off x="457200" y="601980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A52210"/>
                </a:solidFill>
                <a:latin typeface="Arial"/>
                <a:ea typeface="Arial"/>
                <a:cs typeface="Arial"/>
              </a:defRPr>
            </a:pPr>
            <a:r>
              <a:rPr sz="1125" b="1" i="0">
                <a:solidFill>
                  <a:srgbClr val="A52210"/>
                </a:solidFill>
                <a:latin typeface="Arial"/>
                <a:ea typeface="Arial"/>
                <a:cs typeface="Arial"/>
              </a:rPr>
              <a:t>Server-side secrets · HttpOnly auth cookies · role enforcement · durable Upstash-backed state · explicit source freshness</a:t>
            </a:r>
          </a:p>
        </p:txBody>
      </p:sp>
    </p:spTree>
    <p:extLst>
      <p:ext uri="{BB962C8B-B14F-4D97-AF65-F5344CB8AC3E}">
        <p14:creationId xmlns:p14="http://schemas.microsoft.com/office/powerpoint/2010/main" val="273773802"/>
      </p:ext>
    </p:extLst>
  </p:cSld>
</p:sld>
</file>

<file path=ppt/slides/slide14.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822999-C295-4DCB-85C3-782548146AED}"/>
              </a:ext>
            </a:extLst>
          </p:cNvPr>
          <p:cNvSpPr>
            <a:spLocks xmlns:a="http://schemas.openxmlformats.org/drawingml/2006/main" noGrp="1"/>
          </p:cNvSpPr>
          <p:nvPr/>
        </p:nvSpPr>
        <p:spPr>
          <a:xfrm xmlns:a="http://schemas.openxmlformats.org/drawingml/2006/main">
            <a:off x="876300" y="1390650"/>
            <a:ext cx="685800" cy="5715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2C63EA2-1598-4DDC-81D5-149D7A7F5263}"/>
              </a:ext>
            </a:extLst>
          </p:cNvPr>
          <p:cNvSpPr>
            <a:spLocks xmlns:a="http://schemas.openxmlformats.org/drawingml/2006/main" noGrp="1"/>
          </p:cNvSpPr>
          <p:nvPr/>
        </p:nvSpPr>
        <p:spPr>
          <a:xfrm xmlns:a="http://schemas.openxmlformats.org/drawingml/2006/main">
            <a:off x="781050" y="1971675"/>
            <a:ext cx="106299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0650" b="1" i="0">
                <a:solidFill>
                  <a:srgbClr val="F1EEE9"/>
                </a:solidFill>
                <a:latin typeface="Bahnschrift"/>
                <a:ea typeface="Bahnschrift"/>
                <a:cs typeface="Bahnschrift"/>
              </a:defRPr>
            </a:pPr>
            <a:r>
              <a:rPr sz="10650" b="1" i="0">
                <a:solidFill>
                  <a:srgbClr val="F1EEE9"/>
                </a:solidFill>
                <a:latin typeface="Bahnschrift"/>
                <a:ea typeface="Bahnschrift"/>
                <a:cs typeface="Bahnschrift"/>
              </a:rPr>
              <a:t>DEMO</a:t>
            </a:r>
          </a:p>
        </p:txBody>
      </p:sp>
      <p:sp>
        <p:nvSpPr>
          <p:cNvPr id="3" name="">
            <a:extLst xmlns:a="http://schemas.openxmlformats.org/drawingml/2006/main">
              <a:ext uri="{FF2B5EF4-FFF2-40B4-BE49-F238E27FC236}">
                <a16:creationId xmlns:a16="http://schemas.microsoft.com/office/drawing/2014/main" id="{72DE9A3F-E6B6-4CE8-90D8-884E5A4873EC}"/>
              </a:ext>
            </a:extLst>
          </p:cNvPr>
          <p:cNvSpPr>
            <a:spLocks xmlns:a="http://schemas.openxmlformats.org/drawingml/2006/main" noGrp="1"/>
          </p:cNvSpPr>
          <p:nvPr/>
        </p:nvSpPr>
        <p:spPr>
          <a:xfrm xmlns:a="http://schemas.openxmlformats.org/drawingml/2006/main">
            <a:off x="10629900" y="4933950"/>
            <a:ext cx="685800" cy="5715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0050AF-640F-492C-9584-FDFCD4F90113}"/>
              </a:ext>
            </a:extLst>
          </p:cNvPr>
          <p:cNvSpPr>
            <a:spLocks xmlns:a="http://schemas.openxmlformats.org/drawingml/2006/main" noGrp="1"/>
          </p:cNvSpPr>
          <p:nvPr/>
        </p:nvSpPr>
        <p:spPr>
          <a:xfrm xmlns:a="http://schemas.openxmlformats.org/drawingml/2006/main">
            <a:off x="4191000" y="51816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1" i="0">
                <a:solidFill>
                  <a:srgbClr val="68737A"/>
                </a:solidFill>
                <a:latin typeface="Bahnschrift"/>
                <a:ea typeface="Bahnschrift"/>
                <a:cs typeface="Bahnschrift"/>
              </a:defRPr>
            </a:pPr>
            <a:r>
              <a:rPr sz="1200" b="1" i="0">
                <a:solidFill>
                  <a:srgbClr val="68737A"/>
                </a:solidFill>
                <a:latin typeface="Bahnschrift"/>
                <a:ea typeface="Bahnschrift"/>
                <a:cs typeface="Bahnschrift"/>
              </a:rPr>
              <a:t>LIVE NAVIRA WALKTHROUGH</a:t>
            </a:r>
          </a:p>
        </p:txBody>
      </p:sp>
    </p:spTree>
    <p:extLst>
      <p:ext uri="{BB962C8B-B14F-4D97-AF65-F5344CB8AC3E}">
        <p14:creationId xmlns:p14="http://schemas.microsoft.com/office/powerpoint/2010/main" val="158583301"/>
      </p:ext>
    </p:extLst>
  </p:cSld>
</p:sld>
</file>

<file path=ppt/slides/slide15.xml><?xml version="1.0" encoding="utf-8"?>
<p:sld xmlns:p="http://schemas.openxmlformats.org/presentationml/2006/main">
  <p:cSld>
    <p:bg>
      <p:bgPr>
        <a:solidFill xmlns:a="http://schemas.openxmlformats.org/drawingml/2006/main">
          <a:srgbClr val="0F1113"/>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7081AD1-776F-400A-9ACF-CD93C3A68FBF}"/>
              </a:ext>
            </a:extLst>
          </p:cNvPr>
          <p:cNvSpPr>
            <a:spLocks xmlns:a="http://schemas.openxmlformats.org/drawingml/2006/main" noGrp="1"/>
          </p:cNvSpPr>
          <p:nvPr/>
        </p:nvSpPr>
        <p:spPr>
          <a:xfrm xmlns:a="http://schemas.openxmlformats.org/drawingml/2006/main">
            <a:off x="457200" y="419100"/>
            <a:ext cx="438150" cy="38100"/>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41E27B-90B0-4AA0-82ED-81D532D84F1C}"/>
              </a:ext>
            </a:extLst>
          </p:cNvPr>
          <p:cNvSpPr>
            <a:spLocks xmlns:a="http://schemas.openxmlformats.org/drawingml/2006/main" noGrp="1"/>
          </p:cNvSpPr>
          <p:nvPr/>
        </p:nvSpPr>
        <p:spPr>
          <a:xfrm xmlns:a="http://schemas.openxmlformats.org/drawingml/2006/main">
            <a:off x="457200" y="1085850"/>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100" b="1" i="0">
                <a:solidFill>
                  <a:srgbClr val="F1EEE9"/>
                </a:solidFill>
                <a:latin typeface="Bahnschrift"/>
                <a:ea typeface="Bahnschrift"/>
                <a:cs typeface="Bahnschrift"/>
              </a:defRPr>
            </a:pPr>
            <a:r>
              <a:rPr sz="5100" b="1" i="0">
                <a:solidFill>
                  <a:srgbClr val="F1EEE9"/>
                </a:solidFill>
                <a:latin typeface="Bahnschrift"/>
                <a:ea typeface="Bahnschrift"/>
                <a:cs typeface="Bahnschrift"/>
              </a:rPr>
              <a:t>NAVIRA</a:t>
            </a:r>
          </a:p>
        </p:txBody>
      </p:sp>
      <p:sp>
        <p:nvSpPr>
          <p:cNvPr id="3" name="">
            <a:extLst xmlns:a="http://schemas.openxmlformats.org/drawingml/2006/main">
              <a:ext uri="{FF2B5EF4-FFF2-40B4-BE49-F238E27FC236}">
                <a16:creationId xmlns:a16="http://schemas.microsoft.com/office/drawing/2014/main" id="{182B0D72-FAAD-404B-8A84-7523C1BEB43B}"/>
              </a:ext>
            </a:extLst>
          </p:cNvPr>
          <p:cNvSpPr>
            <a:spLocks xmlns:a="http://schemas.openxmlformats.org/drawingml/2006/main" noGrp="1"/>
          </p:cNvSpPr>
          <p:nvPr/>
        </p:nvSpPr>
        <p:spPr>
          <a:xfrm xmlns:a="http://schemas.openxmlformats.org/drawingml/2006/main">
            <a:off x="457200" y="2324100"/>
            <a:ext cx="781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750" b="1" i="0">
                <a:solidFill>
                  <a:srgbClr val="F1EEE9"/>
                </a:solidFill>
                <a:latin typeface="Bahnschrift"/>
                <a:ea typeface="Bahnschrift"/>
                <a:cs typeface="Bahnschrift"/>
              </a:defRPr>
            </a:pPr>
            <a:r>
              <a:rPr sz="3750" b="1" i="0">
                <a:solidFill>
                  <a:srgbClr val="F1EEE9"/>
                </a:solidFill>
                <a:latin typeface="Bahnschrift"/>
                <a:ea typeface="Bahnschrift"/>
                <a:cs typeface="Bahnschrift"/>
              </a:rPr>
              <a:t>FROM VERIFIED SIGNAL</a:t>
            </a:r>
          </a:p>
          <a:p xmlns:a="http://schemas.openxmlformats.org/drawingml/2006/main">
            <a:pPr algn="l">
              <a:lnSpc>
                <a:spcPct val="90000"/>
              </a:lnSpc>
              <a:buNone/>
              <a:defRPr sz="3750" b="1" i="0">
                <a:solidFill>
                  <a:srgbClr val="F1EEE9"/>
                </a:solidFill>
                <a:latin typeface="Bahnschrift"/>
                <a:ea typeface="Bahnschrift"/>
                <a:cs typeface="Bahnschrift"/>
              </a:defRPr>
            </a:pPr>
            <a:r>
              <a:rPr sz="3750" b="1" i="0">
                <a:solidFill>
                  <a:srgbClr val="F1EEE9"/>
                </a:solidFill>
                <a:latin typeface="Bahnschrift"/>
                <a:ea typeface="Bahnschrift"/>
                <a:cs typeface="Bahnschrift"/>
              </a:rPr>
              <a:t>TO COORDINATED ACTION.</a:t>
            </a:r>
          </a:p>
        </p:txBody>
      </p:sp>
      <p:sp>
        <p:nvSpPr>
          <p:cNvPr id="4" name="">
            <a:extLst xmlns:a="http://schemas.openxmlformats.org/drawingml/2006/main">
              <a:ext uri="{FF2B5EF4-FFF2-40B4-BE49-F238E27FC236}">
                <a16:creationId xmlns:a16="http://schemas.microsoft.com/office/drawing/2014/main" id="{4E852B50-8E23-40B8-AD03-EAFAB6CAA9C2}"/>
              </a:ext>
            </a:extLst>
          </p:cNvPr>
          <p:cNvSpPr>
            <a:spLocks xmlns:a="http://schemas.openxmlformats.org/drawingml/2006/main" noGrp="1"/>
          </p:cNvSpPr>
          <p:nvPr/>
        </p:nvSpPr>
        <p:spPr>
          <a:xfrm xmlns:a="http://schemas.openxmlformats.org/drawingml/2006/main">
            <a:off x="495300" y="43624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F3B1F"/>
                </a:solidFill>
                <a:latin typeface="Bahnschrift"/>
                <a:ea typeface="Bahnschrift"/>
                <a:cs typeface="Bahnschrift"/>
              </a:defRPr>
            </a:pPr>
            <a:r>
              <a:rPr sz="1350" b="1" i="0">
                <a:solidFill>
                  <a:srgbClr val="FF3B1F"/>
                </a:solidFill>
                <a:latin typeface="Bahnschrift"/>
                <a:ea typeface="Bahnschrift"/>
                <a:cs typeface="Bahnschrift"/>
              </a:rPr>
              <a:t>UNDERSTAND</a:t>
            </a:r>
          </a:p>
        </p:txBody>
      </p:sp>
      <p:sp>
        <p:nvSpPr>
          <p:cNvPr id="5" name="">
            <a:extLst xmlns:a="http://schemas.openxmlformats.org/drawingml/2006/main">
              <a:ext uri="{FF2B5EF4-FFF2-40B4-BE49-F238E27FC236}">
                <a16:creationId xmlns:a16="http://schemas.microsoft.com/office/drawing/2014/main" id="{2F077CF6-AC18-4893-B31C-30B542F46EEE}"/>
              </a:ext>
            </a:extLst>
          </p:cNvPr>
          <p:cNvSpPr>
            <a:spLocks xmlns:a="http://schemas.openxmlformats.org/drawingml/2006/main" noGrp="1"/>
          </p:cNvSpPr>
          <p:nvPr/>
        </p:nvSpPr>
        <p:spPr>
          <a:xfrm xmlns:a="http://schemas.openxmlformats.org/drawingml/2006/main">
            <a:off x="2152650" y="4505325"/>
            <a:ext cx="9906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B72B0E-C779-48AE-85A0-71EC92331B70}"/>
              </a:ext>
            </a:extLst>
          </p:cNvPr>
          <p:cNvSpPr>
            <a:spLocks xmlns:a="http://schemas.openxmlformats.org/drawingml/2006/main" noGrp="1"/>
          </p:cNvSpPr>
          <p:nvPr/>
        </p:nvSpPr>
        <p:spPr>
          <a:xfrm xmlns:a="http://schemas.openxmlformats.org/drawingml/2006/main">
            <a:off x="3124200" y="4448175"/>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942ADBA-E299-45F6-84F7-8C4B4D3B2257}"/>
              </a:ext>
            </a:extLst>
          </p:cNvPr>
          <p:cNvSpPr>
            <a:spLocks xmlns:a="http://schemas.openxmlformats.org/drawingml/2006/main" noGrp="1"/>
          </p:cNvSpPr>
          <p:nvPr/>
        </p:nvSpPr>
        <p:spPr>
          <a:xfrm xmlns:a="http://schemas.openxmlformats.org/drawingml/2006/main">
            <a:off x="3486150" y="43624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PROTECT</a:t>
            </a:r>
          </a:p>
        </p:txBody>
      </p:sp>
      <p:sp>
        <p:nvSpPr>
          <p:cNvPr id="8" name="">
            <a:extLst xmlns:a="http://schemas.openxmlformats.org/drawingml/2006/main">
              <a:ext uri="{FF2B5EF4-FFF2-40B4-BE49-F238E27FC236}">
                <a16:creationId xmlns:a16="http://schemas.microsoft.com/office/drawing/2014/main" id="{59CCBC63-8522-47A6-A968-BFE1D11F2510}"/>
              </a:ext>
            </a:extLst>
          </p:cNvPr>
          <p:cNvSpPr>
            <a:spLocks xmlns:a="http://schemas.openxmlformats.org/drawingml/2006/main" noGrp="1"/>
          </p:cNvSpPr>
          <p:nvPr/>
        </p:nvSpPr>
        <p:spPr>
          <a:xfrm xmlns:a="http://schemas.openxmlformats.org/drawingml/2006/main">
            <a:off x="5048250" y="4505325"/>
            <a:ext cx="990600" cy="28575"/>
          </a:xfrm>
          <a:prstGeom xmlns:a="http://schemas.openxmlformats.org/drawingml/2006/main" prst="rect">
            <a:avLst/>
          </a:prstGeom>
          <a:solidFill xmlns:a="http://schemas.openxmlformats.org/drawingml/2006/main">
            <a:srgbClr val="FF3B1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19417F2-F159-42BA-8CF5-A9EBA8F265F4}"/>
              </a:ext>
            </a:extLst>
          </p:cNvPr>
          <p:cNvSpPr>
            <a:spLocks xmlns:a="http://schemas.openxmlformats.org/drawingml/2006/main" noGrp="1"/>
          </p:cNvSpPr>
          <p:nvPr/>
        </p:nvSpPr>
        <p:spPr>
          <a:xfrm xmlns:a="http://schemas.openxmlformats.org/drawingml/2006/main">
            <a:off x="6019800" y="4448175"/>
            <a:ext cx="133350" cy="133350"/>
          </a:xfrm>
          <a:prstGeom xmlns:a="http://schemas.openxmlformats.org/drawingml/2006/main" prst="triangle">
            <a:avLst/>
          </a:prstGeom>
          <a:solidFill xmlns:a="http://schemas.openxmlformats.org/drawingml/2006/main">
            <a:srgbClr val="FF3B1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2B57E8C-F3BE-4C18-B9CB-448B8657D455}"/>
              </a:ext>
            </a:extLst>
          </p:cNvPr>
          <p:cNvSpPr>
            <a:spLocks xmlns:a="http://schemas.openxmlformats.org/drawingml/2006/main" noGrp="1"/>
          </p:cNvSpPr>
          <p:nvPr/>
        </p:nvSpPr>
        <p:spPr>
          <a:xfrm xmlns:a="http://schemas.openxmlformats.org/drawingml/2006/main">
            <a:off x="6381750" y="43624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TEST</a:t>
            </a:r>
          </a:p>
        </p:txBody>
      </p:sp>
      <p:sp>
        <p:nvSpPr>
          <p:cNvPr id="11" name="">
            <a:extLst xmlns:a="http://schemas.openxmlformats.org/drawingml/2006/main">
              <a:ext uri="{FF2B5EF4-FFF2-40B4-BE49-F238E27FC236}">
                <a16:creationId xmlns:a16="http://schemas.microsoft.com/office/drawing/2014/main" id="{9224C41E-E2B3-48EC-BF1E-86918557FC0D}"/>
              </a:ext>
            </a:extLst>
          </p:cNvPr>
          <p:cNvSpPr>
            <a:spLocks xmlns:a="http://schemas.openxmlformats.org/drawingml/2006/main" noGrp="1"/>
          </p:cNvSpPr>
          <p:nvPr/>
        </p:nvSpPr>
        <p:spPr>
          <a:xfrm xmlns:a="http://schemas.openxmlformats.org/drawingml/2006/main">
            <a:off x="457200" y="5429250"/>
            <a:ext cx="11277600" cy="9525"/>
          </a:xfrm>
          <a:prstGeom xmlns:a="http://schemas.openxmlformats.org/drawingml/2006/main" prst="rect">
            <a:avLst/>
          </a:prstGeom>
          <a:solidFill xmlns:a="http://schemas.openxmlformats.org/drawingml/2006/main">
            <a:srgbClr val="34393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3D60A7A-AFF4-47F2-BA8C-1CF2E436F809}"/>
              </a:ext>
            </a:extLst>
          </p:cNvPr>
          <p:cNvSpPr>
            <a:spLocks xmlns:a="http://schemas.openxmlformats.org/drawingml/2006/main" noGrp="1"/>
          </p:cNvSpPr>
          <p:nvPr/>
        </p:nvSpPr>
        <p:spPr>
          <a:xfrm xmlns:a="http://schemas.openxmlformats.org/drawingml/2006/main">
            <a:off x="457200" y="57531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F1EEE9"/>
                </a:solidFill>
                <a:latin typeface="Bahnschrift"/>
                <a:ea typeface="Bahnschrift"/>
                <a:cs typeface="Bahnschrift"/>
              </a:defRPr>
            </a:pPr>
            <a:r>
              <a:rPr sz="1350" b="1" i="0">
                <a:solidFill>
                  <a:srgbClr val="F1EEE9"/>
                </a:solidFill>
                <a:latin typeface="Bahnschrift"/>
                <a:ea typeface="Bahnschrift"/>
                <a:cs typeface="Bahnschrift"/>
              </a:rPr>
              <a:t>RISHABH MITTAL</a:t>
            </a:r>
          </a:p>
        </p:txBody>
      </p:sp>
      <p:sp>
        <p:nvSpPr>
          <p:cNvPr id="13" name="">
            <a:extLst xmlns:a="http://schemas.openxmlformats.org/drawingml/2006/main">
              <a:ext uri="{FF2B5EF4-FFF2-40B4-BE49-F238E27FC236}">
                <a16:creationId xmlns:a16="http://schemas.microsoft.com/office/drawing/2014/main" id="{1743BE83-57A9-4D1D-AE2E-7456556A5F5B}"/>
              </a:ext>
            </a:extLst>
          </p:cNvPr>
          <p:cNvSpPr>
            <a:spLocks xmlns:a="http://schemas.openxmlformats.org/drawingml/2006/main" noGrp="1"/>
          </p:cNvSpPr>
          <p:nvPr/>
        </p:nvSpPr>
        <p:spPr>
          <a:xfrm xmlns:a="http://schemas.openxmlformats.org/drawingml/2006/main">
            <a:off x="457200" y="6096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68737A"/>
                </a:solidFill>
                <a:latin typeface="Arial"/>
                <a:ea typeface="Arial"/>
                <a:cs typeface="Arial"/>
              </a:defRPr>
            </a:pPr>
            <a:r>
              <a:rPr sz="1050" b="0" i="0">
                <a:solidFill>
                  <a:srgbClr val="68737A"/>
                </a:solidFill>
                <a:latin typeface="Arial"/>
                <a:ea typeface="Arial"/>
                <a:cs typeface="Arial"/>
              </a:rPr>
              <a:t>Hackathon submission</a:t>
            </a:r>
          </a:p>
        </p:txBody>
      </p:sp>
      <p:sp>
        <p:nvSpPr>
          <p:cNvPr id="14" name="">
            <a:extLst xmlns:a="http://schemas.openxmlformats.org/drawingml/2006/main">
              <a:ext uri="{FF2B5EF4-FFF2-40B4-BE49-F238E27FC236}">
                <a16:creationId xmlns:a16="http://schemas.microsoft.com/office/drawing/2014/main" id="{97793FD9-323B-40D4-B69C-25EDCD2F22D9}"/>
              </a:ext>
            </a:extLst>
          </p:cNvPr>
          <p:cNvSpPr>
            <a:spLocks xmlns:a="http://schemas.openxmlformats.org/drawingml/2006/main" noGrp="1"/>
          </p:cNvSpPr>
          <p:nvPr/>
        </p:nvSpPr>
        <p:spPr>
          <a:xfrm xmlns:a="http://schemas.openxmlformats.org/drawingml/2006/main">
            <a:off x="6800850" y="5743575"/>
            <a:ext cx="4933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AAB0B4"/>
                </a:solidFill>
                <a:latin typeface="Arial"/>
                <a:ea typeface="Arial"/>
                <a:cs typeface="Arial"/>
              </a:defRPr>
            </a:pPr>
            <a:r>
              <a:rPr sz="1350" b="0" i="0">
                <a:solidFill>
                  <a:srgbClr val="AAB0B4"/>
                </a:solidFill>
                <a:latin typeface="Arial"/>
                <a:ea typeface="Arial"/>
                <a:cs typeface="Arial"/>
              </a:rPr>
              <a:t>A serious disaster-response system built around real geography, verified sources and human decisions.</a:t>
            </a:r>
          </a:p>
        </p:txBody>
      </p:sp>
    </p:spTree>
    <p:extLst>
      <p:ext uri="{BB962C8B-B14F-4D97-AF65-F5344CB8AC3E}">
        <p14:creationId xmlns:p14="http://schemas.microsoft.com/office/powerpoint/2010/main" val="3975196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2026-09-29T15:14:59.4700000Z</dcterms:created>
  <dcterms:modified xsi:type="dcterms:W3CDTF">2026-09-29T15:14:59.4700000Z</dcterms:modified>
</coreProperties>
</file>